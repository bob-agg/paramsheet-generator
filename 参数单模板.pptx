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6"/>
  </p:notesMasterIdLst>
  <p:sldIdLst>
    <p:sldId id="395" r:id="rId2"/>
    <p:sldId id="369" r:id="rId3"/>
    <p:sldId id="403" r:id="rId4"/>
    <p:sldId id="402" r:id="rId5"/>
  </p:sldIdLst>
  <p:sldSz cx="7559675" cy="10693400"/>
  <p:notesSz cx="6858000" cy="9144000"/>
  <p:embeddedFontLst>
    <p:embeddedFont>
      <p:font typeface="Bai Jamjuree Medium" panose="00000600000000000000" pitchFamily="2" charset="-34"/>
      <p:regular r:id="rId7"/>
      <p:italic r:id="rId8"/>
    </p:embeddedFont>
    <p:embeddedFont>
      <p:font typeface="Bai Jamjuree SemiBold" panose="00000700000000000000" pitchFamily="2" charset="-34"/>
      <p:bold r:id="rId9"/>
      <p:boldItalic r:id="rId10"/>
    </p:embeddedFont>
  </p:embeddedFontLst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588" userDrawn="1">
          <p15:clr>
            <a:srgbClr val="A4A3A4"/>
          </p15:clr>
        </p15:guide>
        <p15:guide id="2" pos="217" userDrawn="1">
          <p15:clr>
            <a:srgbClr val="A4A3A4"/>
          </p15:clr>
        </p15:guide>
        <p15:guide id="3" pos="4564" userDrawn="1">
          <p15:clr>
            <a:srgbClr val="A4A3A4"/>
          </p15:clr>
        </p15:guide>
        <p15:guide id="4" orient="horz" pos="690" userDrawn="1">
          <p15:clr>
            <a:srgbClr val="A4A3A4"/>
          </p15:clr>
        </p15:guide>
        <p15:guide id="5" pos="2308" userDrawn="1">
          <p15:clr>
            <a:srgbClr val="A4A3A4"/>
          </p15:clr>
        </p15:guide>
        <p15:guide id="6" pos="2432" userDrawn="1">
          <p15:clr>
            <a:srgbClr val="A4A3A4"/>
          </p15:clr>
        </p15:guide>
        <p15:guide id="7" orient="horz" pos="87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0F0"/>
    <a:srgbClr val="51545D"/>
    <a:srgbClr val="464B52"/>
    <a:srgbClr val="DCDDDD"/>
    <a:srgbClr val="888888"/>
    <a:srgbClr val="8A8A89"/>
    <a:srgbClr val="DBDDDC"/>
    <a:srgbClr val="FFFFFF"/>
    <a:srgbClr val="8B8A8A"/>
    <a:srgbClr val="EE1D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howGuides="1">
      <p:cViewPr>
        <p:scale>
          <a:sx n="100" d="100"/>
          <a:sy n="100" d="100"/>
        </p:scale>
        <p:origin x="2190" y="72"/>
      </p:cViewPr>
      <p:guideLst>
        <p:guide orient="horz" pos="6588"/>
        <p:guide pos="217"/>
        <p:guide pos="4564"/>
        <p:guide orient="horz" pos="690"/>
        <p:guide pos="2308"/>
        <p:guide pos="2432"/>
        <p:guide orient="horz" pos="87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tags" Target="tags/tag1.xml"/><Relationship Id="rId12" Type="http://schemas.openxmlformats.org/officeDocument/2006/relationships/commentAuthors" Target="commentAuthors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2025/4/27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38144" y="1143000"/>
            <a:ext cx="2181711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8828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44959" y="1750055"/>
            <a:ext cx="5669756" cy="3722888"/>
          </a:xfrm>
        </p:spPr>
        <p:txBody>
          <a:bodyPr anchor="b"/>
          <a:lstStyle>
            <a:lvl1pPr algn="ctr">
              <a:defRPr sz="3645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944959" y="5616511"/>
            <a:ext cx="5669756" cy="2581762"/>
          </a:xfrm>
        </p:spPr>
        <p:txBody>
          <a:bodyPr/>
          <a:lstStyle>
            <a:lvl1pPr marL="0" indent="0" algn="ctr">
              <a:buNone/>
              <a:defRPr sz="1455"/>
            </a:lvl1pPr>
            <a:lvl2pPr marL="277495" indent="0" algn="ctr">
              <a:buNone/>
              <a:defRPr sz="1215"/>
            </a:lvl2pPr>
            <a:lvl3pPr marL="554990" indent="0" algn="ctr">
              <a:buNone/>
              <a:defRPr sz="1095"/>
            </a:lvl3pPr>
            <a:lvl4pPr marL="833120" indent="0" algn="ctr">
              <a:buNone/>
              <a:defRPr sz="970"/>
            </a:lvl4pPr>
            <a:lvl5pPr marL="1110615" indent="0" algn="ctr">
              <a:buNone/>
              <a:defRPr sz="970"/>
            </a:lvl5pPr>
            <a:lvl6pPr marL="1388110" indent="0" algn="ctr">
              <a:buNone/>
              <a:defRPr sz="970"/>
            </a:lvl6pPr>
            <a:lvl7pPr marL="1665605" indent="0" algn="ctr">
              <a:buNone/>
              <a:defRPr sz="970"/>
            </a:lvl7pPr>
            <a:lvl8pPr marL="1943100" indent="0" algn="ctr">
              <a:buNone/>
              <a:defRPr sz="970"/>
            </a:lvl8pPr>
            <a:lvl9pPr marL="2221230" indent="0" algn="ctr">
              <a:buNone/>
              <a:defRPr sz="97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2025/4/27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  <a:t>2025/4/27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tags" Target="../tags/tag4.xml"/><Relationship Id="rId4" Type="http://schemas.openxmlformats.org/officeDocument/2006/relationships/tags" Target="../tags/tag5.xml"/><Relationship Id="rId5" Type="http://schemas.openxmlformats.org/officeDocument/2006/relationships/tags" Target="../tags/tag6.xml"/><Relationship Id="rId6" Type="http://schemas.openxmlformats.org/officeDocument/2006/relationships/tags" Target="../tags/tag7.xml"/><Relationship Id="rId7" Type="http://schemas.openxmlformats.org/officeDocument/2006/relationships/tags" Target="../tags/tag8.xml"/><Relationship Id="rId8" Type="http://schemas.openxmlformats.org/officeDocument/2006/relationships/slideLayout" Target="../slideLayouts/slideLayout2.xml"/><Relationship Id="rId9" Type="http://schemas.openxmlformats.org/officeDocument/2006/relationships/image" Target="../media/image1.jpg"/><Relationship Id="rId10" Type="http://schemas.openxmlformats.org/officeDocument/2006/relationships/image" Target="../media/image2.png"/><Relationship Id="rId11" Type="http://schemas.openxmlformats.org/officeDocument/2006/relationships/image" Target="../media/image3.png"/><Relationship Id="rId12" Type="http://schemas.openxmlformats.org/officeDocument/2006/relationships/image" Target="../media/image4.png"/><Relationship Id="rId13" Type="http://schemas.openxmlformats.org/officeDocument/2006/relationships/image" Target="../media/image5.png"/><Relationship Id="rId14" Type="http://schemas.openxmlformats.org/officeDocument/2006/relationships/image" Target="../media/image6.png"/><Relationship Id="rId15" Type="http://schemas.openxmlformats.org/officeDocument/2006/relationships/image" Target="../media/image7.png"/><Relationship Id="rId16" Type="http://schemas.openxmlformats.org/officeDocument/2006/relationships/image" Target="../media/image8.png"/><Relationship Id="rId17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tags" Target="../tags/tag11.xml"/><Relationship Id="rId4" Type="http://schemas.openxmlformats.org/officeDocument/2006/relationships/tags" Target="../tags/tag12.xml"/><Relationship Id="rId5" Type="http://schemas.openxmlformats.org/officeDocument/2006/relationships/tags" Target="../tags/tag13.xml"/><Relationship Id="rId6" Type="http://schemas.openxmlformats.org/officeDocument/2006/relationships/tags" Target="../tags/tag14.xml"/><Relationship Id="rId7" Type="http://schemas.openxmlformats.org/officeDocument/2006/relationships/tags" Target="../tags/tag15.xml"/><Relationship Id="rId8" Type="http://schemas.openxmlformats.org/officeDocument/2006/relationships/tags" Target="../tags/tag16.xml"/><Relationship Id="rId9" Type="http://schemas.openxmlformats.org/officeDocument/2006/relationships/slideLayout" Target="../slideLayouts/slideLayout2.xml"/><Relationship Id="rId10" Type="http://schemas.openxmlformats.org/officeDocument/2006/relationships/image" Target="../media/image10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tags" Target="../tags/tag18.xml"/><Relationship Id="rId3" Type="http://schemas.openxmlformats.org/officeDocument/2006/relationships/tags" Target="../tags/tag19.xml"/><Relationship Id="rId4" Type="http://schemas.openxmlformats.org/officeDocument/2006/relationships/tags" Target="../tags/tag20.xml"/><Relationship Id="rId5" Type="http://schemas.openxmlformats.org/officeDocument/2006/relationships/tags" Target="../tags/tag21.xml"/><Relationship Id="rId6" Type="http://schemas.openxmlformats.org/officeDocument/2006/relationships/tags" Target="../tags/tag22.xml"/><Relationship Id="rId7" Type="http://schemas.openxmlformats.org/officeDocument/2006/relationships/tags" Target="../tags/tag23.xml"/><Relationship Id="rId8" Type="http://schemas.openxmlformats.org/officeDocument/2006/relationships/tags" Target="../tags/tag24.xml"/><Relationship Id="rId9" Type="http://schemas.openxmlformats.org/officeDocument/2006/relationships/tags" Target="../tags/tag25.xml"/><Relationship Id="rId10" Type="http://schemas.openxmlformats.org/officeDocument/2006/relationships/tags" Target="../tags/tag26.xml"/><Relationship Id="rId11" Type="http://schemas.openxmlformats.org/officeDocument/2006/relationships/tags" Target="../tags/tag27.xml"/><Relationship Id="rId12" Type="http://schemas.openxmlformats.org/officeDocument/2006/relationships/tags" Target="../tags/tag28.xml"/><Relationship Id="rId13" Type="http://schemas.openxmlformats.org/officeDocument/2006/relationships/tags" Target="../tags/tag29.xml"/><Relationship Id="rId14" Type="http://schemas.openxmlformats.org/officeDocument/2006/relationships/tags" Target="../tags/tag30.xml"/><Relationship Id="rId15" Type="http://schemas.openxmlformats.org/officeDocument/2006/relationships/slideLayout" Target="../slideLayouts/slideLayout2.xml"/><Relationship Id="rId16" Type="http://schemas.openxmlformats.org/officeDocument/2006/relationships/image" Target="../media/image10.jpg"/><Relationship Id="rId17" Type="http://schemas.openxmlformats.org/officeDocument/2006/relationships/image" Target="../media/image11.png"/><Relationship Id="rId18" Type="http://schemas.openxmlformats.org/officeDocument/2006/relationships/image" Target="../media/image12.png"/><Relationship Id="rId19" Type="http://schemas.openxmlformats.org/officeDocument/2006/relationships/image" Target="../media/image13.png"/><Relationship Id="rId20" Type="http://schemas.openxmlformats.org/officeDocument/2006/relationships/image" Target="../media/image14.png"/><Relationship Id="rId21" Type="http://schemas.openxmlformats.org/officeDocument/2006/relationships/image" Target="../media/image15.png"/><Relationship Id="rId22" Type="http://schemas.openxmlformats.org/officeDocument/2006/relationships/image" Target="../media/image16.png"/><Relationship Id="rId23" Type="http://schemas.openxmlformats.org/officeDocument/2006/relationships/image" Target="../media/image17.png"/><Relationship Id="rId24" Type="http://schemas.openxmlformats.org/officeDocument/2006/relationships/image" Target="../media/image18.png"/><Relationship Id="rId25" Type="http://schemas.openxmlformats.org/officeDocument/2006/relationships/image" Target="../media/image19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tags" Target="../tags/tag32.xml"/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20.jpg"/><Relationship Id="rId5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 descr="未标题-1_0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3865" y="8886716"/>
            <a:ext cx="1759795" cy="539199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rcRect t="2316"/>
          <a:stretch>
            <a:fillRect/>
          </a:stretch>
        </p:blipFill>
        <p:spPr>
          <a:xfrm>
            <a:off x="395605" y="1369667"/>
            <a:ext cx="3032760" cy="221869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3779837" y="1511272"/>
            <a:ext cx="3248660" cy="1993900"/>
          </a:xfrm>
          <a:prstGeom prst="rect">
            <a:avLst/>
          </a:prstGeom>
        </p:spPr>
      </p:pic>
      <p:graphicFrame>
        <p:nvGraphicFramePr>
          <p:cNvPr id="26" name="内容占位符 5"/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571295219"/>
              </p:ext>
            </p:extLst>
          </p:nvPr>
        </p:nvGraphicFramePr>
        <p:xfrm>
          <a:off x="3851837" y="4338700"/>
          <a:ext cx="3096000" cy="1667548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7887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66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0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211">
                <a:tc>
                  <a:txBody>
                    <a:bodyPr/>
                    <a:lstStyle/>
                    <a:p>
                      <a:pPr lvl="0" indent="0" algn="l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1" kern="1200" dirty="0">
                          <a:solidFill>
                            <a:srgbClr val="464B52"/>
                          </a:solidFill>
                          <a:effectLst/>
                          <a:latin typeface="Bai Jamjuree SemiBold" panose="00000700000000000000" pitchFamily="2" charset="-34"/>
                          <a:ea typeface="+mn-ea"/>
                          <a:cs typeface="Bai Jamjuree SemiBold" panose="00000700000000000000" pitchFamily="2" charset="-34"/>
                        </a:rPr>
                        <a:t>ITEMS</a:t>
                      </a:r>
                      <a:endParaRPr lang="en-US" altLang="zh-CN" sz="1500" b="1" kern="1200" dirty="0">
                        <a:solidFill>
                          <a:srgbClr val="464B52"/>
                        </a:solidFill>
                        <a:effectLst/>
                        <a:latin typeface="Bai Jamjuree SemiBold" panose="00000700000000000000" pitchFamily="2" charset="-34"/>
                        <a:ea typeface="+mn-ea"/>
                        <a:cs typeface="Bai Jamjuree SemiBold" panose="00000700000000000000" pitchFamily="2" charset="-34"/>
                      </a:endParaRPr>
                    </a:p>
                  </a:txBody>
                  <a:tcPr marL="180000" marR="79632" marT="39816" marB="3981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100" b="1" dirty="0">
                          <a:solidFill>
                            <a:srgbClr val="464B52"/>
                          </a:solidFill>
                          <a:latin typeface="Bai Jamjuree SemiBold" panose="00000700000000000000" pitchFamily="2" charset="-34"/>
                          <a:ea typeface="黑体" panose="02010609060101010101" charset="-122"/>
                          <a:cs typeface="Bai Jamjuree SemiBold" panose="00000700000000000000" pitchFamily="2" charset="-34"/>
                          <a:sym typeface="+mn-ea"/>
                        </a:rPr>
                        <a:t>PRP</a:t>
                      </a:r>
                    </a:p>
                  </a:txBody>
                  <a:tcPr marL="79632" marR="79632" marT="39816" marB="3981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100" b="1" dirty="0">
                          <a:solidFill>
                            <a:srgbClr val="464B52"/>
                          </a:solidFill>
                          <a:latin typeface="Bai Jamjuree SemiBold" panose="00000700000000000000" pitchFamily="2" charset="-34"/>
                          <a:ea typeface="黑体" panose="02010609060101010101" charset="-122"/>
                          <a:cs typeface="Bai Jamjuree SemiBold" panose="00000700000000000000" pitchFamily="2" charset="-34"/>
                          <a:sym typeface="+mn-ea"/>
                        </a:rPr>
                        <a:t>EPS</a:t>
                      </a:r>
                      <a:r>
                        <a:rPr lang="en-US" sz="1000" b="1" dirty="0">
                          <a:solidFill>
                            <a:srgbClr val="464B52"/>
                          </a:solidFill>
                          <a:latin typeface="Bai Jamjuree SemiBold" panose="00000700000000000000" pitchFamily="2" charset="-34"/>
                          <a:ea typeface="黑体" panose="02010609060101010101" charset="-122"/>
                          <a:cs typeface="Bai Jamjuree SemiBold" panose="00000700000000000000" pitchFamily="2" charset="-34"/>
                          <a:sym typeface="+mn-ea"/>
                        </a:rPr>
                        <a:t> </a:t>
                      </a:r>
                    </a:p>
                  </a:txBody>
                  <a:tcPr marL="79632" marR="79632" marT="39816" marB="3981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913">
                <a:tc>
                  <a:txBody>
                    <a:bodyPr/>
                    <a:lstStyle/>
                    <a:p>
                      <a:pPr lvl="0" indent="0" algn="l" eaLnBrk="0" fontAlgn="ctr">
                        <a:lnSpc>
                          <a:spcPct val="120000"/>
                        </a:lnSpc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</a:rPr>
                        <a:t>Power</a:t>
                      </a:r>
                    </a:p>
                  </a:txBody>
                  <a:tcPr marL="180000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800" b="0">
                          <a:latin typeface="Bai Jamjuree Medium"/>
                        </a:rPr>
                        <a:t>632kVA</a:t>
                      </a:r>
                      <a:endParaRPr lang="en-US" altLang="en-US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800" b="0">
                          <a:latin typeface="Bai Jamjuree Medium"/>
                        </a:rPr>
                        <a:t>688kVA</a:t>
                      </a:r>
                      <a:endParaRPr lang="en-US" altLang="en-US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356">
                <a:tc>
                  <a:txBody>
                    <a:bodyPr/>
                    <a:lstStyle/>
                    <a:p>
                      <a:pPr lvl="0" indent="0" algn="l" eaLnBrk="0" fontAlgn="ctr">
                        <a:lnSpc>
                          <a:spcPct val="120000"/>
                        </a:lnSpc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</a:rPr>
                        <a:t>Power</a:t>
                      </a:r>
                    </a:p>
                  </a:txBody>
                  <a:tcPr marL="180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800" b="0">
                          <a:latin typeface="Bai Jamjuree Medium"/>
                        </a:rPr>
                        <a:t>506kW</a:t>
                      </a:r>
                      <a:endParaRPr lang="en-US" altLang="en-US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800" b="0">
                          <a:latin typeface="Bai Jamjuree Medium"/>
                        </a:rPr>
                        <a:t>550kW</a:t>
                      </a:r>
                      <a:endParaRPr lang="en-US" altLang="en-US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356">
                <a:tc>
                  <a:txBody>
                    <a:bodyPr/>
                    <a:lstStyle/>
                    <a:p>
                      <a:pPr lvl="0" indent="0" algn="l" eaLnBrk="0" fontAlgn="ctr">
                        <a:lnSpc>
                          <a:spcPct val="120000"/>
                        </a:lnSpc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spc="-50" baseline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</a:rPr>
                        <a:t>Frequency / Phase / Power factor</a:t>
                      </a:r>
                    </a:p>
                  </a:txBody>
                  <a:tcPr marL="180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eaLnBrk="0" font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</a:rPr>
                        <a:t>50Hz / 3P / PF0.8</a:t>
                      </a: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356">
                <a:tc>
                  <a:txBody>
                    <a:bodyPr/>
                    <a:lstStyle/>
                    <a:p>
                      <a:pPr lvl="0" indent="0" algn="l" eaLnBrk="0" fontAlgn="ctr">
                        <a:lnSpc>
                          <a:spcPct val="120000"/>
                        </a:lnSpc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</a:rPr>
                        <a:t>Standard voltage</a:t>
                      </a:r>
                    </a:p>
                  </a:txBody>
                  <a:tcPr marL="180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eaLnBrk="0" font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</a:rPr>
                        <a:t>400/230V</a:t>
                      </a:r>
                      <a:endParaRPr lang="en-US" altLang="en-US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356">
                <a:tc>
                  <a:txBody>
                    <a:bodyPr/>
                    <a:lstStyle/>
                    <a:p>
                      <a:pPr marL="0" lvl="0" indent="0" algn="l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Available voltage</a:t>
                      </a:r>
                    </a:p>
                  </a:txBody>
                  <a:tcPr marL="180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eaLnBrk="0" font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</a:rPr>
                        <a:t>380/220V · 415/240V</a:t>
                      </a: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8" name="文本框 37"/>
          <p:cNvSpPr txBox="1"/>
          <p:nvPr/>
        </p:nvSpPr>
        <p:spPr>
          <a:xfrm>
            <a:off x="535719" y="580639"/>
            <a:ext cx="3138674" cy="296171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eaLnBrk="0"/>
            <a:r>
              <a:rPr lang="en-US" altLang="zh-CN" sz="900" dirty="0">
                <a:solidFill>
                  <a:schemeClr val="bg1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Industrial Range Powered By Cummins</a:t>
            </a:r>
            <a:endParaRPr lang="zh-CN" altLang="en-US" sz="900" dirty="0">
              <a:solidFill>
                <a:schemeClr val="bg1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graphicFrame>
        <p:nvGraphicFramePr>
          <p:cNvPr id="39" name="内容占位符 5"/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122890262"/>
              </p:ext>
            </p:extLst>
          </p:nvPr>
        </p:nvGraphicFramePr>
        <p:xfrm>
          <a:off x="3851837" y="7007519"/>
          <a:ext cx="3096001" cy="2875785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5197">
                <a:tc gridSpan="3">
                  <a:txBody>
                    <a:bodyPr/>
                    <a:lstStyle/>
                    <a:p>
                      <a:pPr lvl="0" indent="0"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1" kern="1200" dirty="0">
                          <a:solidFill>
                            <a:srgbClr val="464B52"/>
                          </a:solidFill>
                          <a:effectLst/>
                          <a:latin typeface="Bai Jamjuree SemiBold" panose="00000700000000000000" pitchFamily="2" charset="-34"/>
                          <a:ea typeface="+mn-ea"/>
                          <a:cs typeface="Bai Jamjuree SemiBold" panose="00000700000000000000" pitchFamily="2" charset="-34"/>
                        </a:rPr>
                        <a:t>PERFORMANCE DATA</a:t>
                      </a:r>
                    </a:p>
                  </a:txBody>
                  <a:tcPr marL="180000" marR="79632" marT="39816" marB="3981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79632" marR="79632" marT="39816" marB="3981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8A8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79632" marR="79632" marT="39816" marB="3981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8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022">
                <a:tc gridSpan="2">
                  <a:txBody>
                    <a:bodyPr/>
                    <a:lstStyle/>
                    <a:p>
                      <a:pPr marL="0" lvl="0" indent="0" algn="l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  <a:sym typeface="+mn-ea"/>
                        </a:rPr>
                        <a:t>    Engine brand</a:t>
                      </a:r>
                      <a:endParaRPr lang="en-US" alt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72000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800">
                          <a:latin typeface="Bai Jamjuree Medium"/>
                        </a:rPr>
                        <a:t>DEUTZ</a:t>
                      </a:r>
                      <a:endParaRPr lang="en-US" altLang="en-US" sz="800" b="0" spc="-50" baseline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534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  </a:t>
                      </a: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  <a:sym typeface="+mn-ea"/>
                        </a:rPr>
                        <a:t> Engine </a:t>
                      </a:r>
                      <a:r>
                        <a:rPr lang="en-US" alt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model</a:t>
                      </a:r>
                    </a:p>
                  </a:txBody>
                  <a:tcPr marL="72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800" b="0">
                          <a:latin typeface="Bai Jamjuree Medium"/>
                        </a:rPr>
                        <a:t>D17</a:t>
                      </a: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682">
                <a:tc gridSpan="2">
                  <a:txBody>
                    <a:bodyPr/>
                    <a:lstStyle/>
                    <a:p>
                      <a:pPr lvl="0" indent="0" algn="l" eaLnBrk="0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   Fuel</a:t>
                      </a:r>
                      <a:endParaRPr lang="en-US" sz="8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</a:txBody>
                  <a:tcPr marL="72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800" b="0">
                          <a:latin typeface="Bai Jamjuree Medium"/>
                        </a:rPr>
                        <a:t>Diesel</a:t>
                      </a: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194">
                <a:tc gridSpan="2">
                  <a:txBody>
                    <a:bodyPr/>
                    <a:lstStyle/>
                    <a:p>
                      <a:pPr lvl="0" indent="0" algn="l" eaLnBrk="0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   </a:t>
                      </a:r>
                      <a:r>
                        <a:rPr lang="en-US" altLang="zh-CN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</a:rPr>
                        <a:t>Aspiration</a:t>
                      </a:r>
                    </a:p>
                  </a:txBody>
                  <a:tcPr marL="72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800" b="0">
                          <a:latin typeface="Bai Jamjuree Medium"/>
                        </a:rPr>
                        <a:t>Turbo, CAC</a:t>
                      </a: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194">
                <a:tc gridSpan="2">
                  <a:txBody>
                    <a:bodyPr/>
                    <a:lstStyle/>
                    <a:p>
                      <a:pPr lvl="0" indent="0" algn="l" eaLnBrk="0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   </a:t>
                      </a:r>
                      <a:r>
                        <a:rPr lang="en-US" altLang="zh-CN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</a:rPr>
                        <a:t>Cooling</a:t>
                      </a:r>
                    </a:p>
                  </a:txBody>
                  <a:tcPr marL="72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800" b="0">
                          <a:latin typeface="Bai Jamjuree Medium"/>
                        </a:rPr>
                        <a:t>Water-cooled</a:t>
                      </a: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194">
                <a:tc gridSpan="2">
                  <a:txBody>
                    <a:bodyPr/>
                    <a:lstStyle/>
                    <a:p>
                      <a:pPr lvl="0" indent="0" algn="l" eaLnBrk="0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</a:rPr>
                        <a:t>    Governor</a:t>
                      </a:r>
                    </a:p>
                  </a:txBody>
                  <a:tcPr marL="72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800" b="0">
                          <a:latin typeface="Bai Jamjuree Medium"/>
                        </a:rPr>
                        <a:t>Electronic</a:t>
                      </a: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682">
                <a:tc gridSpan="2">
                  <a:txBody>
                    <a:bodyPr/>
                    <a:lstStyle/>
                    <a:p>
                      <a:pPr lvl="0" indent="0" algn="l" eaLnBrk="0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</a:rPr>
                        <a:t>    Cyl arrangement</a:t>
                      </a:r>
                      <a:endParaRPr lang="en-US" altLang="zh-CN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</a:endParaRPr>
                    </a:p>
                  </a:txBody>
                  <a:tcPr marL="72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800" b="0">
                          <a:latin typeface="Bai Jamjuree Medium"/>
                        </a:rPr>
                        <a:t>6L</a:t>
                      </a: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2510">
                <a:tc gridSpan="2">
                  <a:txBody>
                    <a:bodyPr/>
                    <a:lstStyle/>
                    <a:p>
                      <a:pPr lvl="0" indent="0" algn="l" eaLnBrk="0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</a:rPr>
                        <a:t>    Application</a:t>
                      </a:r>
                    </a:p>
                  </a:txBody>
                  <a:tcPr marL="72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800">
                          <a:latin typeface="Bai Jamjuree Medium"/>
                        </a:rPr>
                        <a:t>Prime &amp; Standby</a:t>
                      </a:r>
                      <a:endParaRPr lang="en-US" altLang="en-US" sz="800" b="0" spc="-50" baseline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70862">
                <a:tc>
                  <a:txBody>
                    <a:bodyPr/>
                    <a:lstStyle/>
                    <a:p>
                      <a:pPr lvl="0" indent="0" algn="l" eaLnBrk="0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spc="-5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</a:rPr>
                        <a:t>Fuel</a:t>
                      </a:r>
                      <a:r>
                        <a:rPr lang="en-US" altLang="zh-CN" sz="800" b="0" spc="-50" baseline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</a:rPr>
                        <a:t> </a:t>
                      </a:r>
                      <a:r>
                        <a:rPr lang="en-US" altLang="zh-CN" sz="800" b="0" spc="-5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</a:rPr>
                        <a:t>consumption</a:t>
                      </a:r>
                    </a:p>
                  </a:txBody>
                  <a:tcPr marL="180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100% ESP(L/H)</a:t>
                      </a:r>
                    </a:p>
                    <a:p>
                      <a:pPr marL="0" marR="0" indent="0" algn="l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100% PRP(L/H)</a:t>
                      </a:r>
                    </a:p>
                    <a:p>
                      <a:pPr marL="0" marR="0" indent="0" algn="l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75% PRP(L/H)</a:t>
                      </a:r>
                    </a:p>
                    <a:p>
                      <a:pPr marL="0" marR="0" indent="0" algn="l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50% PRP(L/H)</a:t>
                      </a: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800" b="0">
                          <a:latin typeface="Bai Jamjuree Medium"/>
                        </a:rPr>
                        <a:t>115.1</a:t>
                      </a:r>
                    </a:p>
                    <a:p>
                      <a:r>
                        <a:rPr sz="800" b="0">
                          <a:latin typeface="Bai Jamjuree Medium"/>
                        </a:rPr>
                        <a:t>105.8</a:t>
                      </a:r>
                    </a:p>
                    <a:p>
                      <a:r>
                        <a:rPr sz="800" b="0">
                          <a:latin typeface="Bai Jamjuree Medium"/>
                        </a:rPr>
                        <a:t>85.0</a:t>
                      </a:r>
                    </a:p>
                    <a:p>
                      <a:r>
                        <a:rPr sz="800" b="0">
                          <a:latin typeface="Bai Jamjuree Medium"/>
                        </a:rPr>
                        <a:t>57.1</a:t>
                      </a: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445428" y="4250489"/>
            <a:ext cx="3168233" cy="19747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 eaLnBrk="0">
              <a:lnSpc>
                <a:spcPct val="120000"/>
              </a:lnSpc>
            </a:pPr>
            <a:r>
              <a:rPr lang="en-US" sz="800" kern="700" spc="-4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Standards : 2006/42/EC Machinery safety, 2006/95/EC Low voltage, EN 60204-1 : 2006+A1 : 2009, EN ISO 12100 : 2010, EN ISO 8528-13: 2016, ENISO 13849-1 :  2015, EN 60204-1 : 2018</a:t>
            </a:r>
          </a:p>
          <a:p>
            <a:pPr algn="just" eaLnBrk="0">
              <a:lnSpc>
                <a:spcPct val="120000"/>
              </a:lnSpc>
            </a:pPr>
            <a:r>
              <a:rPr lang="en-US" sz="800" kern="700" spc="-4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PRP: Prime power is available for an unlimited number of annual operating hours in variable load applications , in accordance with ISO 8528-1.</a:t>
            </a:r>
          </a:p>
          <a:p>
            <a:pPr algn="just" eaLnBrk="0">
              <a:lnSpc>
                <a:spcPct val="120000"/>
              </a:lnSpc>
            </a:pPr>
            <a:r>
              <a:rPr lang="en-US" sz="800" kern="700" spc="-4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ESP : The standby power rating is applicable for suppling emergency power in variable load applications in accordance with ISO 8528-1.overload is not allowed.</a:t>
            </a:r>
          </a:p>
          <a:p>
            <a:pPr algn="just" eaLnBrk="0">
              <a:lnSpc>
                <a:spcPct val="120000"/>
              </a:lnSpc>
            </a:pPr>
            <a:r>
              <a:rPr lang="en-US" sz="800" kern="700" spc="-4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Conditions : According to the standard, the nominal power assigned by the </a:t>
            </a:r>
            <a:r>
              <a:rPr lang="en-US" sz="800" kern="700" spc="-4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genset</a:t>
            </a:r>
            <a:r>
              <a:rPr lang="en-US" sz="800" kern="700" spc="-4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 is given for 25</a:t>
            </a:r>
            <a:r>
              <a:rPr lang="en-US" altLang="zh-CN" sz="800" kern="700" spc="-4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°</a:t>
            </a:r>
            <a:r>
              <a:rPr lang="en-US" sz="800" kern="700" spc="-4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C air inlet temperature, of a barometric pressure of 100 </a:t>
            </a:r>
            <a:r>
              <a:rPr lang="en-US" sz="800" kern="700" spc="-4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kPA</a:t>
            </a:r>
            <a:r>
              <a:rPr lang="en-US" sz="800" kern="700" spc="-4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 (100 m A.S.L), and 30 % relative humidity.</a:t>
            </a:r>
            <a:endParaRPr sz="800" kern="700" spc="-40" dirty="0">
              <a:solidFill>
                <a:schemeClr val="tx1">
                  <a:lumMod val="65000"/>
                  <a:lumOff val="35000"/>
                </a:schemeClr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517660" y="3928209"/>
            <a:ext cx="966990" cy="227786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45428" y="9434579"/>
            <a:ext cx="3262409" cy="53340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 eaLnBrk="0">
              <a:lnSpc>
                <a:spcPct val="120000"/>
              </a:lnSpc>
            </a:pPr>
            <a:r>
              <a:rPr lang="zh-CN" altLang="en-US" sz="800" kern="700" spc="-5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NOTE：Weights and dimensions based on standard products. According to 2000/14/CE , sound data is provided at 7m for 75% prime power. For actual </a:t>
            </a:r>
            <a:r>
              <a:rPr lang="en-US" altLang="zh-CN" sz="800" kern="700" spc="-5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i</a:t>
            </a:r>
            <a:r>
              <a:rPr lang="zh-CN" altLang="en-US" sz="800" kern="700" spc="-5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nstallation, </a:t>
            </a:r>
            <a:r>
              <a:rPr lang="en-US" altLang="zh-CN" sz="800" kern="700" spc="-5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please </a:t>
            </a:r>
            <a:r>
              <a:rPr lang="zh-CN" altLang="en-US" sz="800" kern="700" spc="-5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contact the manufacturer. </a:t>
            </a:r>
          </a:p>
        </p:txBody>
      </p:sp>
      <p:graphicFrame>
        <p:nvGraphicFramePr>
          <p:cNvPr id="27" name="内容占位符 5"/>
          <p:cNvGraphicFramePr>
            <a:graphicFrameLocks noGrp="1"/>
          </p:cNvGraphicFramePr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1388318991"/>
              </p:ext>
            </p:extLst>
          </p:nvPr>
        </p:nvGraphicFramePr>
        <p:xfrm>
          <a:off x="486363" y="7014716"/>
          <a:ext cx="3055297" cy="15840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111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912"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endParaRPr lang="en-US" altLang="zh-CN" sz="800" b="1" kern="1200" dirty="0">
                        <a:solidFill>
                          <a:srgbClr val="464B52"/>
                        </a:solidFill>
                        <a:effectLst/>
                        <a:latin typeface="Bai Jamjuree SemiBold" panose="00000700000000000000" pitchFamily="2" charset="-34"/>
                        <a:ea typeface="+mn-ea"/>
                        <a:cs typeface="Bai Jamjuree SemiBold" panose="00000700000000000000" pitchFamily="2" charset="-34"/>
                      </a:endParaRPr>
                    </a:p>
                  </a:txBody>
                  <a:tcPr marL="180000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1" kern="1200" dirty="0">
                          <a:solidFill>
                            <a:srgbClr val="464B52"/>
                          </a:solidFill>
                          <a:effectLst/>
                          <a:latin typeface="Bai Jamjuree SemiBold" panose="00000700000000000000" pitchFamily="2" charset="-34"/>
                          <a:ea typeface="+mn-ea"/>
                          <a:cs typeface="Bai Jamjuree SemiBold" panose="00000700000000000000" pitchFamily="2" charset="-34"/>
                          <a:sym typeface="+mn-ea"/>
                        </a:rPr>
                        <a:t>OPEN</a:t>
                      </a:r>
                    </a:p>
                  </a:txBody>
                  <a:tcPr marL="89372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1" kern="1200" dirty="0">
                          <a:solidFill>
                            <a:srgbClr val="464B52"/>
                          </a:solidFill>
                          <a:effectLst/>
                          <a:latin typeface="Bai Jamjuree SemiBold" panose="00000700000000000000" pitchFamily="2" charset="-34"/>
                          <a:ea typeface="+mn-ea"/>
                          <a:cs typeface="Bai Jamjuree SemiBold" panose="00000700000000000000" pitchFamily="2" charset="-34"/>
                          <a:sym typeface="+mn-ea"/>
                        </a:rPr>
                        <a:t>SILENT</a:t>
                      </a:r>
                    </a:p>
                  </a:txBody>
                  <a:tcPr marL="89372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567">
                <a:tc>
                  <a:txBody>
                    <a:bodyPr/>
                    <a:lstStyle/>
                    <a:p>
                      <a:pPr lvl="0" indent="0" algn="l" fontAlgn="b">
                        <a:spcBef>
                          <a:spcPts val="3000"/>
                        </a:spcBef>
                        <a:buClrTx/>
                        <a:buSzTx/>
                        <a:buFontTx/>
                        <a:buNone/>
                      </a:pPr>
                      <a:endParaRPr lang="en-US" altLang="en-US" sz="800" b="0" kern="1200" spc="-50" baseline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3400</a:t>
                      </a: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*</a:t>
                      </a: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3400</a:t>
                      </a: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*</a:t>
                      </a: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340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4210</a:t>
                      </a: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*</a:t>
                      </a: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4210</a:t>
                      </a: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*</a:t>
                      </a: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4210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8631"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3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zh-CN" sz="800" kern="1200" spc="-50" baseline="0" dirty="0">
                        <a:solidFill>
                          <a:srgbClr val="464B52"/>
                        </a:solidFill>
                        <a:effectLst/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3400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4210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8631">
                <a:tc>
                  <a:txBody>
                    <a:bodyPr/>
                    <a:lstStyle/>
                    <a:p>
                      <a:endParaRPr lang="zh-CN" altLang="zh-CN" sz="800" kern="1200" dirty="0">
                        <a:solidFill>
                          <a:srgbClr val="464B52"/>
                        </a:solidFill>
                        <a:effectLst/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700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700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259">
                <a:tc>
                  <a:txBody>
                    <a:bodyPr/>
                    <a:lstStyle/>
                    <a:p>
                      <a:endParaRPr lang="zh-CN" altLang="zh-CN" sz="800" kern="1200" dirty="0">
                        <a:solidFill>
                          <a:srgbClr val="464B52"/>
                        </a:solidFill>
                        <a:effectLst/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395837" y="6570700"/>
            <a:ext cx="2520000" cy="3600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eaLnBrk="0">
              <a:lnSpc>
                <a:spcPct val="120000"/>
              </a:lnSpc>
            </a:pPr>
            <a:r>
              <a:rPr lang="en-US" altLang="zh-CN" sz="1600" b="1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GENERAL INSTALLATION</a:t>
            </a:r>
            <a:endParaRPr lang="zh-CN" altLang="en-US" sz="1600" b="1" dirty="0">
              <a:solidFill>
                <a:srgbClr val="464B52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86363" y="7232467"/>
            <a:ext cx="1203157" cy="97900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defTabSz="936000" eaLnBrk="0">
              <a:lnSpc>
                <a:spcPts val="1880"/>
              </a:lnSpc>
            </a:pPr>
            <a:r>
              <a:rPr lang="en-US" altLang="zh-CN" sz="800" spc="-50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Dimension(L*W*H) (mm)</a:t>
            </a:r>
          </a:p>
          <a:p>
            <a:pPr defTabSz="936000" eaLnBrk="0">
              <a:lnSpc>
                <a:spcPts val="1880"/>
              </a:lnSpc>
            </a:pPr>
            <a:r>
              <a:rPr lang="en-US" altLang="zh-CN" sz="800" spc="-50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Weight(kg)</a:t>
            </a:r>
          </a:p>
          <a:p>
            <a:pPr defTabSz="936000" eaLnBrk="0">
              <a:lnSpc>
                <a:spcPts val="1880"/>
              </a:lnSpc>
            </a:pPr>
            <a:r>
              <a:rPr lang="en-US" altLang="zh-CN" sz="800" spc="-50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Fuel tank(L)</a:t>
            </a:r>
          </a:p>
          <a:p>
            <a:pPr defTabSz="936000" eaLnBrk="0">
              <a:lnSpc>
                <a:spcPts val="1880"/>
              </a:lnSpc>
            </a:pPr>
            <a:r>
              <a:rPr lang="en-US" altLang="zh-CN" sz="800" spc="-50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Sound pressure level </a:t>
            </a:r>
            <a:endParaRPr lang="zh-CN" altLang="en-US" sz="800" spc="-50" dirty="0">
              <a:solidFill>
                <a:srgbClr val="464B52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86363" y="7016467"/>
            <a:ext cx="1080000" cy="2160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lvl="0" eaLnBrk="0">
              <a:lnSpc>
                <a:spcPct val="120000"/>
              </a:lnSpc>
            </a:pPr>
            <a:r>
              <a:rPr lang="en-US" altLang="zh-CN" sz="1000" b="1" dirty="0">
                <a:solidFill>
                  <a:srgbClr val="464B52"/>
                </a:solidFill>
                <a:latin typeface="Bai Jamjuree SemiBold" panose="00000700000000000000" pitchFamily="2" charset="-34"/>
                <a:cs typeface="Bai Jamjuree SemiBold" panose="00000700000000000000" pitchFamily="2" charset="-34"/>
              </a:rPr>
              <a:t>ITEMS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486362" y="8181070"/>
            <a:ext cx="1203157" cy="34186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defTabSz="936000" eaLnBrk="0"/>
            <a:r>
              <a:rPr lang="en-US" altLang="zh-CN" sz="800" spc="-50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@75% load&amp;1m       dB(A)</a:t>
            </a:r>
          </a:p>
          <a:p>
            <a:pPr defTabSz="936000" eaLnBrk="0"/>
            <a:r>
              <a:rPr lang="en-US" altLang="zh-CN" sz="800" spc="-50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@75% load&amp;7m      dB(A)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2749658" y="8168922"/>
            <a:ext cx="634427" cy="34186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936000" eaLnBrk="0"/>
            <a:r>
              <a:rPr lang="en-US" altLang="zh-CN" sz="800" spc="-50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——</a:t>
            </a:r>
          </a:p>
          <a:p>
            <a:pPr algn="ctr" defTabSz="936000" eaLnBrk="0"/>
            <a:r>
              <a:rPr lang="en-US" altLang="zh-CN" sz="800" spc="-50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——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3779837" y="3834700"/>
            <a:ext cx="3024001" cy="3600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eaLnBrk="0">
              <a:lnSpc>
                <a:spcPct val="120000"/>
              </a:lnSpc>
            </a:pPr>
            <a:r>
              <a:rPr lang="en-US" altLang="zh-CN" sz="1600" b="1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GENERATOR SPECIFICATION</a:t>
            </a:r>
            <a:endParaRPr lang="zh-CN" altLang="en-US" sz="1600" b="1" dirty="0">
              <a:solidFill>
                <a:srgbClr val="464B52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42411" y="6162903"/>
            <a:ext cx="270351" cy="263797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067335" y="6182609"/>
            <a:ext cx="648000" cy="21407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eaLnBrk="0">
              <a:lnSpc>
                <a:spcPct val="120000"/>
              </a:lnSpc>
            </a:pPr>
            <a:r>
              <a:rPr lang="en-US" altLang="zh-CN" sz="700" spc="-50" dirty="0">
                <a:solidFill>
                  <a:srgbClr val="888888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Water-cooled</a:t>
            </a:r>
            <a:endParaRPr lang="zh-CN" altLang="en-US" sz="700" spc="-50" dirty="0">
              <a:solidFill>
                <a:srgbClr val="888888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87837" y="6162902"/>
            <a:ext cx="261244" cy="263797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5012761" y="6189161"/>
            <a:ext cx="639076" cy="21407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eaLnBrk="0">
              <a:lnSpc>
                <a:spcPct val="120000"/>
              </a:lnSpc>
            </a:pPr>
            <a:r>
              <a:rPr lang="en-US" altLang="zh-CN" sz="700" spc="-50" dirty="0">
                <a:solidFill>
                  <a:srgbClr val="888888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Three Phase</a:t>
            </a:r>
            <a:endParaRPr lang="zh-CN" altLang="en-US" sz="700" spc="-50" dirty="0">
              <a:solidFill>
                <a:srgbClr val="888888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5876761" y="6189493"/>
            <a:ext cx="351076" cy="21407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eaLnBrk="0">
              <a:lnSpc>
                <a:spcPct val="120000"/>
              </a:lnSpc>
            </a:pPr>
            <a:r>
              <a:rPr lang="en-US" altLang="zh-CN" sz="700" spc="-50" dirty="0">
                <a:solidFill>
                  <a:srgbClr val="888888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50Hz</a:t>
            </a:r>
            <a:endParaRPr lang="zh-CN" altLang="en-US" sz="700" spc="-50" dirty="0">
              <a:solidFill>
                <a:srgbClr val="888888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07293" y="6171603"/>
            <a:ext cx="246555" cy="24409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97305" y="6181021"/>
            <a:ext cx="239832" cy="238243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6596760" y="6192371"/>
            <a:ext cx="351076" cy="21407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eaLnBrk="0">
              <a:lnSpc>
                <a:spcPct val="120000"/>
              </a:lnSpc>
            </a:pPr>
            <a:r>
              <a:rPr lang="en-US" altLang="zh-CN" sz="700" spc="-50" dirty="0">
                <a:solidFill>
                  <a:srgbClr val="888888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Diesel</a:t>
            </a:r>
            <a:endParaRPr lang="zh-CN" altLang="en-US" sz="700" spc="-50" dirty="0">
              <a:solidFill>
                <a:srgbClr val="888888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535719" y="106258"/>
            <a:ext cx="1844926" cy="62523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eaLnBrk="0">
              <a:lnSpc>
                <a:spcPct val="120000"/>
              </a:lnSpc>
            </a:pPr>
            <a:r>
              <a:rPr lang="en-US" altLang="zh-CN" sz="3200" b="1" dirty="0">
                <a:solidFill>
                  <a:schemeClr val="bg1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AS500E5</a:t>
            </a:r>
            <a:endParaRPr lang="zh-CN" altLang="en-US" sz="3000" b="1" dirty="0">
              <a:solidFill>
                <a:schemeClr val="bg1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内容占位符 5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8428649"/>
              </p:ext>
            </p:extLst>
          </p:nvPr>
        </p:nvGraphicFramePr>
        <p:xfrm>
          <a:off x="467837" y="1719732"/>
          <a:ext cx="3146963" cy="2388977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586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83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3779">
                <a:tc gridSpan="2"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1" kern="1200" dirty="0">
                          <a:solidFill>
                            <a:srgbClr val="464B52"/>
                          </a:solidFill>
                          <a:effectLst/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BASIC DATA</a:t>
                      </a:r>
                    </a:p>
                  </a:txBody>
                  <a:tcPr marL="180000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89372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8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411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Engine brand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sz="800" b="0">
                          <a:latin typeface="Bai Jamjuree Medium"/>
                        </a:rPr>
                        <a:t>DEUTZ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25932204"/>
                  </a:ext>
                </a:extLst>
              </a:tr>
              <a:tr h="262411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Engine model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sz="800" b="0">
                          <a:latin typeface="Bai Jamjuree Medium"/>
                        </a:rPr>
                        <a:t>D17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71201147"/>
                  </a:ext>
                </a:extLst>
              </a:tr>
              <a:tr h="262411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Displacement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sz="800" b="0">
                          <a:latin typeface="Bai Jamjuree Medium"/>
                        </a:rPr>
                        <a:t>16.25L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630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No. of </a:t>
                      </a:r>
                      <a:r>
                        <a:rPr lang="en-US" sz="800" b="0" kern="1200" dirty="0" err="1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cyl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/ arrangement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sz="800" b="0">
                          <a:latin typeface="Bai Jamjuree Medium"/>
                        </a:rPr>
                        <a:t>6L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510">
                <a:tc>
                  <a:txBody>
                    <a:bodyPr/>
                    <a:lstStyle/>
                    <a:p>
                      <a:pPr indent="0" algn="l" font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Bore x stroke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sz="800" b="0">
                          <a:latin typeface="Bai Jamjuree Medium"/>
                        </a:rPr>
                        <a:t>142x171mm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732">
                <a:tc>
                  <a:txBody>
                    <a:bodyPr/>
                    <a:lstStyle/>
                    <a:p>
                      <a:pPr indent="0" algn="l" font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Compression ratio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sz="800" b="0">
                          <a:latin typeface="Bai Jamjuree Medium"/>
                        </a:rPr>
                        <a:t>18.7:1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078">
                <a:tc>
                  <a:txBody>
                    <a:bodyPr/>
                    <a:lstStyle/>
                    <a:p>
                      <a:pPr indent="0" algn="l" font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Engine speed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sz="800" b="0">
                          <a:latin typeface="Bai Jamjuree Medium"/>
                        </a:rPr>
                        <a:t>1500rpm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7015">
                <a:tc>
                  <a:txBody>
                    <a:bodyPr/>
                    <a:lstStyle/>
                    <a:p>
                      <a:pPr indent="0" algn="l" font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Engine type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sz="800" b="0">
                          <a:latin typeface="Bai Jamjuree Medium"/>
                        </a:rPr>
                        <a:t>4-stroke diesel</a:t>
                      </a:r>
                      <a:endParaRPr lang="en-US" alt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3" name="内容占位符 5"/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53679413"/>
              </p:ext>
            </p:extLst>
          </p:nvPr>
        </p:nvGraphicFramePr>
        <p:xfrm>
          <a:off x="467837" y="4338700"/>
          <a:ext cx="3146964" cy="1283851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064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05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108">
                <a:tc gridSpan="2"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1" kern="1200" dirty="0">
                          <a:solidFill>
                            <a:srgbClr val="464B52"/>
                          </a:solidFill>
                          <a:effectLst/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EXHAUST SYSTEM</a:t>
                      </a:r>
                    </a:p>
                  </a:txBody>
                  <a:tcPr marL="180000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89372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8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492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kern="1200" spc="-2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Exhaust stack gas temperature</a:t>
                      </a:r>
                      <a:r>
                        <a:rPr lang="en-US" altLang="zh-CN" sz="800" b="0" kern="1200" spc="-20" baseline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</a:t>
                      </a:r>
                      <a:r>
                        <a:rPr lang="en-US" altLang="zh-CN" sz="800" b="0" kern="1200" spc="-2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(</a:t>
                      </a:r>
                      <a:r>
                        <a:rPr lang="en-US" altLang="en-US" sz="800" b="0" kern="1200" spc="-2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max.</a:t>
                      </a:r>
                      <a:r>
                        <a:rPr lang="en-US" altLang="zh-CN" sz="800" b="0" kern="1200" spc="-2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)</a:t>
                      </a:r>
                      <a:endParaRPr lang="en-US" altLang="en-US" sz="800" b="0" kern="1200" spc="-2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sz="800" b="0">
                          <a:latin typeface="Bai Jamjuree Medium"/>
                        </a:rPr>
                        <a:t>560°C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052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spc="-2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Exhaust gas flow rate</a:t>
                      </a:r>
                      <a:r>
                        <a:rPr lang="en-US" altLang="zh-CN" sz="800" b="0" kern="1200" spc="-20" baseline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</a:t>
                      </a:r>
                      <a:r>
                        <a:rPr lang="en-US" altLang="zh-CN" sz="800" b="0" kern="1200" spc="-2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(</a:t>
                      </a:r>
                      <a:r>
                        <a:rPr lang="en-US" sz="800" b="0" kern="1200" spc="-2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max.</a:t>
                      </a:r>
                      <a:r>
                        <a:rPr lang="en-US" altLang="zh-CN" sz="800" b="0" kern="1200" spc="-2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)</a:t>
                      </a:r>
                      <a:endParaRPr lang="en-US" sz="800" b="0" kern="1200" spc="-2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sz="800" b="0">
                          <a:latin typeface="Bai Jamjuree Medium"/>
                        </a:rPr>
                        <a:t>107.5m³/min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199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spc="-2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Exhaust system backpressure</a:t>
                      </a:r>
                      <a:r>
                        <a:rPr lang="en-US" sz="800" b="0" kern="1200" spc="-20" baseline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</a:t>
                      </a:r>
                      <a:r>
                        <a:rPr lang="en-US" sz="800" b="0" kern="1200" spc="-2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(maximum allowable)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sz="800" b="0">
                          <a:latin typeface="Bai Jamjuree Medium"/>
                        </a:rPr>
                        <a:t>5.0kPa</a:t>
                      </a:r>
                      <a:endParaRPr lang="en-US" sz="800" b="0" kern="1200" spc="-2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4" name="内容占位符 5"/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885327462"/>
              </p:ext>
            </p:extLst>
          </p:nvPr>
        </p:nvGraphicFramePr>
        <p:xfrm>
          <a:off x="469324" y="5992880"/>
          <a:ext cx="3152705" cy="8658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107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19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226">
                <a:tc gridSpan="2"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1" kern="1200" dirty="0">
                          <a:solidFill>
                            <a:srgbClr val="464B52"/>
                          </a:solidFill>
                          <a:effectLst/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FUEL SYSTEM</a:t>
                      </a:r>
                    </a:p>
                  </a:txBody>
                  <a:tcPr marL="180000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89372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8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609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Maximum restriction at lift pump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sz="800" b="0">
                          <a:latin typeface="Bai Jamjuree Medium"/>
                        </a:rPr>
                        <a:t>19.6kPa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985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Max. fuel flow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sz="800" b="0">
                          <a:latin typeface="Bai Jamjuree Medium"/>
                        </a:rPr>
                        <a:t>131L/H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5" name="内容占位符 5"/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397511020"/>
              </p:ext>
            </p:extLst>
          </p:nvPr>
        </p:nvGraphicFramePr>
        <p:xfrm>
          <a:off x="3921845" y="1714706"/>
          <a:ext cx="3097992" cy="1140805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566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13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4223">
                <a:tc gridSpan="2"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1" kern="1200" dirty="0">
                          <a:solidFill>
                            <a:srgbClr val="464B52"/>
                          </a:solidFill>
                          <a:effectLst/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COOLING SYSTEM</a:t>
                      </a:r>
                    </a:p>
                  </a:txBody>
                  <a:tcPr marL="180000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89372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8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865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Radiator air flow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sz="800" b="0">
                          <a:latin typeface="Bai Jamjuree Medium"/>
                        </a:rPr>
                        <a:t>540m³/min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323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Total oil capacity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sz="800" b="0">
                          <a:latin typeface="Bai Jamjuree Medium"/>
                        </a:rPr>
                        <a:t>30L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394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Total coolant capacity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sz="800" b="0">
                          <a:latin typeface="Bai Jamjuree Medium"/>
                        </a:rPr>
                        <a:t>27L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395837" y="1314700"/>
            <a:ext cx="3096000" cy="41788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eaLnBrk="0">
              <a:lnSpc>
                <a:spcPct val="120000"/>
              </a:lnSpc>
            </a:pPr>
            <a:r>
              <a:rPr lang="en-US" altLang="zh-CN" sz="1600" b="1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ENGINE  SPECIFICATION</a:t>
            </a:r>
            <a:endParaRPr lang="zh-CN" altLang="en-US" sz="1600" b="1" dirty="0">
              <a:solidFill>
                <a:srgbClr val="464B52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graphicFrame>
        <p:nvGraphicFramePr>
          <p:cNvPr id="2" name="内容占位符 5">
            <a:extLst>
              <a:ext uri="{FF2B5EF4-FFF2-40B4-BE49-F238E27FC236}">
                <a16:creationId xmlns:a16="http://schemas.microsoft.com/office/drawing/2014/main" id="{927FB43E-4B76-7F5E-428C-4419D81BE54A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2050684894"/>
              </p:ext>
            </p:extLst>
          </p:nvPr>
        </p:nvGraphicFramePr>
        <p:xfrm>
          <a:off x="3921844" y="3699608"/>
          <a:ext cx="3097993" cy="117190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6241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3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3201">
                <a:tc gridSpan="2"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1" kern="1200" dirty="0">
                          <a:solidFill>
                            <a:srgbClr val="464B52"/>
                          </a:solidFill>
                          <a:effectLst/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ELECTRICAL SYSTEM</a:t>
                      </a:r>
                    </a:p>
                  </a:txBody>
                  <a:tcPr marL="180000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89372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8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749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Starter motor rated voltage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DC24V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864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Start battery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2x60Ah(580CCA)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088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Battery charging alternator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DC24V/40A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" name="内容占位符 5">
            <a:extLst>
              <a:ext uri="{FF2B5EF4-FFF2-40B4-BE49-F238E27FC236}">
                <a16:creationId xmlns:a16="http://schemas.microsoft.com/office/drawing/2014/main" id="{888D4B32-EC0E-C313-FDCF-B04FE55C4BC3}"/>
              </a:ext>
            </a:extLst>
          </p:cNvPr>
          <p:cNvGraphicFramePr>
            <a:graphicFrameLocks noGrp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145434398"/>
              </p:ext>
            </p:extLst>
          </p:nvPr>
        </p:nvGraphicFramePr>
        <p:xfrm>
          <a:off x="3921844" y="5445363"/>
          <a:ext cx="3097993" cy="1413337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2324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55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7183">
                <a:tc gridSpan="2"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1" kern="1200" dirty="0">
                          <a:solidFill>
                            <a:srgbClr val="464B52"/>
                          </a:solidFill>
                          <a:effectLst/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INLET AIR</a:t>
                      </a:r>
                    </a:p>
                  </a:txBody>
                  <a:tcPr marL="180000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89372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8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547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Air filter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sz="800" b="0">
                          <a:latin typeface="Bai Jamjuree Medium"/>
                        </a:rPr>
                        <a:t>Dry type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431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Max. combustion air Intake restriction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sz="800" b="0">
                          <a:latin typeface="Bai Jamjuree Medium"/>
                        </a:rPr>
                        <a:t>5.0kPa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588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Combustion air inlet flow rate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sz="800" b="0">
                          <a:latin typeface="Bai Jamjuree Medium"/>
                        </a:rPr>
                        <a:t>560 L/S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588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Max. allowable combustion air inlet temp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sz="800" b="0">
                          <a:latin typeface="Bai Jamjuree Medium"/>
                        </a:rPr>
                        <a:t>50°C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内容占位符 5">
            <a:extLst>
              <a:ext uri="{FF2B5EF4-FFF2-40B4-BE49-F238E27FC236}">
                <a16:creationId xmlns:a16="http://schemas.microsoft.com/office/drawing/2014/main" id="{8D9825AC-D78F-3FAA-043A-B7DD067E1422}"/>
              </a:ext>
            </a:extLst>
          </p:cNvPr>
          <p:cNvGraphicFramePr>
            <a:graphicFrameLocks noGrp="1"/>
          </p:cNvGraphicFramePr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2437793255"/>
              </p:ext>
            </p:extLst>
          </p:nvPr>
        </p:nvGraphicFramePr>
        <p:xfrm>
          <a:off x="467837" y="7876840"/>
          <a:ext cx="3245326" cy="18618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16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85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010">
                <a:tc gridSpan="2"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1" kern="1200" dirty="0">
                          <a:solidFill>
                            <a:schemeClr val="bg1"/>
                          </a:solidFill>
                          <a:effectLst/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BASIC DATA</a:t>
                      </a:r>
                    </a:p>
                  </a:txBody>
                  <a:tcPr marL="180000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4B5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89372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8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411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Insulation &amp; temperature rise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Class H/H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670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Excitation type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Self-excited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450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Winding leads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12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509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Winding connections (standard)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Star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732">
                <a:tc>
                  <a:txBody>
                    <a:bodyPr/>
                    <a:lstStyle/>
                    <a:p>
                      <a:pPr indent="0" algn="l" font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Winding pitch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Two thirds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078">
                <a:tc>
                  <a:txBody>
                    <a:bodyPr/>
                    <a:lstStyle/>
                    <a:p>
                      <a:pPr indent="0" algn="l" font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Number of phase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Three</a:t>
                      </a:r>
                      <a:r>
                        <a:rPr lang="en-US" altLang="en-US" sz="800" b="0" kern="1200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phase</a:t>
                      </a:r>
                      <a:endParaRPr lang="en-US" alt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" name="内容占位符 5">
            <a:extLst>
              <a:ext uri="{FF2B5EF4-FFF2-40B4-BE49-F238E27FC236}">
                <a16:creationId xmlns:a16="http://schemas.microsoft.com/office/drawing/2014/main" id="{213BEF73-52FB-F11C-3A30-6FB8F0C81469}"/>
              </a:ext>
            </a:extLst>
          </p:cNvPr>
          <p:cNvGraphicFramePr>
            <a:graphicFrameLocks noGrp="1"/>
          </p:cNvGraphicFramePr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369847213"/>
              </p:ext>
            </p:extLst>
          </p:nvPr>
        </p:nvGraphicFramePr>
        <p:xfrm>
          <a:off x="3723344" y="7876840"/>
          <a:ext cx="3277711" cy="18618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35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010">
                <a:tc gridSpan="2"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1" kern="1200" dirty="0">
                          <a:solidFill>
                            <a:schemeClr val="bg1"/>
                          </a:solidFill>
                          <a:effectLst/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BASIC DATA</a:t>
                      </a:r>
                    </a:p>
                  </a:txBody>
                  <a:tcPr marL="180000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4B5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89372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8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411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Type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Brushless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670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No. of bearings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Single bearing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450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Coupling system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Flexible disc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509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Maximum over speed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2250 RPM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732">
                <a:tc>
                  <a:txBody>
                    <a:bodyPr/>
                    <a:lstStyle/>
                    <a:p>
                      <a:pPr indent="0" algn="l" font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Coating type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Vacuum impregnation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078">
                <a:tc>
                  <a:txBody>
                    <a:bodyPr/>
                    <a:lstStyle/>
                    <a:p>
                      <a:pPr indent="0" algn="l" font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IP rating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IP23</a:t>
                      </a: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390C195F-EF9C-DFD5-E573-EFD9999FCCFB}"/>
              </a:ext>
            </a:extLst>
          </p:cNvPr>
          <p:cNvSpPr txBox="1"/>
          <p:nvPr/>
        </p:nvSpPr>
        <p:spPr>
          <a:xfrm>
            <a:off x="395837" y="7417671"/>
            <a:ext cx="3096000" cy="41788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eaLnBrk="0">
              <a:lnSpc>
                <a:spcPct val="120000"/>
              </a:lnSpc>
            </a:pPr>
            <a:r>
              <a:rPr lang="en-US" altLang="zh-CN" sz="1600" b="1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ALTERNATOR  SPECIFICATION</a:t>
            </a:r>
            <a:endParaRPr lang="zh-CN" altLang="en-US" sz="1600" b="1" dirty="0">
              <a:solidFill>
                <a:srgbClr val="464B52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95837" y="1458700"/>
            <a:ext cx="3096000" cy="41788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eaLnBrk="0">
              <a:lnSpc>
                <a:spcPct val="120000"/>
              </a:lnSpc>
            </a:pPr>
            <a:r>
              <a:rPr lang="en-US" altLang="zh-CN" b="1" dirty="0">
                <a:solidFill>
                  <a:srgbClr val="51545D"/>
                </a:solidFill>
                <a:latin typeface="Bai Jamjuree Medium" panose="00000600000000000000" pitchFamily="2" charset="-34"/>
                <a:cs typeface="Bai Jamjuree Medium" panose="00000600000000000000" pitchFamily="2" charset="-34"/>
              </a:rPr>
              <a:t>CONTROL SYSTEM</a:t>
            </a:r>
            <a:endParaRPr lang="zh-CN" altLang="en-US" sz="1600" b="1" dirty="0">
              <a:solidFill>
                <a:srgbClr val="51545D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sp>
        <p:nvSpPr>
          <p:cNvPr id="12" name="文本框 11"/>
          <p:cNvSpPr txBox="1"/>
          <p:nvPr>
            <p:custDataLst>
              <p:tags r:id="rId1"/>
            </p:custDataLst>
          </p:nvPr>
        </p:nvSpPr>
        <p:spPr>
          <a:xfrm>
            <a:off x="445428" y="1859945"/>
            <a:ext cx="1155603" cy="2467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 eaLnBrk="0">
              <a:lnSpc>
                <a:spcPct val="120000"/>
              </a:lnSpc>
            </a:pPr>
            <a:r>
              <a:rPr lang="en-US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Key features</a:t>
            </a:r>
            <a:endParaRPr sz="800" kern="700" dirty="0">
              <a:solidFill>
                <a:schemeClr val="tx1">
                  <a:lumMod val="65000"/>
                  <a:lumOff val="35000"/>
                </a:schemeClr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322070" y="5233425"/>
            <a:ext cx="2519680" cy="914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 rtl="0" ea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  <a:sym typeface="+mn-ea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539837" y="2322700"/>
            <a:ext cx="1800000" cy="1152000"/>
            <a:chOff x="539837" y="2322700"/>
            <a:chExt cx="1800000" cy="1152000"/>
          </a:xfrm>
        </p:grpSpPr>
        <p:sp>
          <p:nvSpPr>
            <p:cNvPr id="16" name="圆角矩形 15"/>
            <p:cNvSpPr/>
            <p:nvPr/>
          </p:nvSpPr>
          <p:spPr>
            <a:xfrm>
              <a:off x="539837" y="2322700"/>
              <a:ext cx="1800000" cy="1152000"/>
            </a:xfrm>
            <a:prstGeom prst="roundRect">
              <a:avLst>
                <a:gd name="adj" fmla="val 7296"/>
              </a:avLst>
            </a:prstGeom>
            <a:solidFill>
              <a:srgbClr val="F0F0F0"/>
            </a:solidFill>
          </p:spPr>
          <p:txBody>
            <a:bodyPr vert="horz" wrap="square" lIns="0" tIns="0" rIns="0" bIns="0" rtlCol="0" anchor="ctr"/>
            <a:lstStyle/>
            <a:p>
              <a:pPr algn="l" rtl="0" eaLnBrk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endParaRPr>
            </a:p>
          </p:txBody>
        </p:sp>
        <p:sp>
          <p:nvSpPr>
            <p:cNvPr id="17" name="文本框 16"/>
            <p:cNvSpPr txBox="1"/>
            <p:nvPr>
              <p:custDataLst>
                <p:tags r:id="rId14"/>
              </p:custDataLst>
            </p:nvPr>
          </p:nvSpPr>
          <p:spPr>
            <a:xfrm>
              <a:off x="647837" y="2394700"/>
              <a:ext cx="1584000" cy="55539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just" eaLnBrk="0">
                <a:lnSpc>
                  <a:spcPct val="120000"/>
                </a:lnSpc>
              </a:pPr>
              <a:r>
                <a:rPr lang="en-US" sz="850" kern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ai Jamjuree Medium" panose="00000600000000000000" pitchFamily="2" charset="-34"/>
                  <a:ea typeface="黑体" panose="02010609060101010101" charset="-122"/>
                  <a:cs typeface="Bai Jamjuree Medium" panose="00000600000000000000" pitchFamily="2" charset="-34"/>
                  <a:sym typeface="+mn-ea"/>
                </a:rPr>
                <a:t>Single generator set </a:t>
              </a:r>
              <a:r>
                <a:rPr lang="en-US" sz="850" kern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Bai Jamjuree Medium" panose="00000600000000000000" pitchFamily="2" charset="-34"/>
                  <a:ea typeface="黑体" panose="02010609060101010101" charset="-122"/>
                  <a:cs typeface="Bai Jamjuree Medium" panose="00000600000000000000" pitchFamily="2" charset="-34"/>
                  <a:sym typeface="+mn-ea"/>
                </a:rPr>
                <a:t>controllercan</a:t>
              </a:r>
              <a:r>
                <a:rPr lang="en-US" sz="850" kern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ai Jamjuree Medium" panose="00000600000000000000" pitchFamily="2" charset="-34"/>
                  <a:ea typeface="黑体" panose="02010609060101010101" charset="-122"/>
                  <a:cs typeface="Bai Jamjuree Medium" panose="00000600000000000000" pitchFamily="2" charset="-34"/>
                  <a:sym typeface="+mn-ea"/>
                </a:rPr>
                <a:t> be used in prime or standby scenarios</a:t>
              </a:r>
              <a:endParaRPr sz="85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endParaRPr>
            </a:p>
          </p:txBody>
        </p:sp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91837" y="2970700"/>
              <a:ext cx="463297" cy="390145"/>
            </a:xfrm>
            <a:prstGeom prst="rect">
              <a:avLst/>
            </a:prstGeom>
          </p:spPr>
        </p:pic>
      </p:grpSp>
      <p:sp>
        <p:nvSpPr>
          <p:cNvPr id="19" name="圆角矩形 18"/>
          <p:cNvSpPr/>
          <p:nvPr/>
        </p:nvSpPr>
        <p:spPr>
          <a:xfrm>
            <a:off x="2699837" y="2322700"/>
            <a:ext cx="1800000" cy="1152000"/>
          </a:xfrm>
          <a:prstGeom prst="roundRect">
            <a:avLst>
              <a:gd name="adj" fmla="val 7296"/>
            </a:avLst>
          </a:prstGeom>
          <a:solidFill>
            <a:srgbClr val="F0F0F0"/>
          </a:solidFill>
        </p:spPr>
        <p:txBody>
          <a:bodyPr vert="horz" wrap="square" lIns="0" tIns="0" rIns="0" bIns="0" rtlCol="0" anchor="ctr"/>
          <a:lstStyle/>
          <a:p>
            <a:pPr algn="l" rtl="0" ea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20" name="文本框 19"/>
          <p:cNvSpPr txBox="1"/>
          <p:nvPr>
            <p:custDataLst>
              <p:tags r:id="rId2"/>
            </p:custDataLst>
          </p:nvPr>
        </p:nvSpPr>
        <p:spPr>
          <a:xfrm>
            <a:off x="2807837" y="2394700"/>
            <a:ext cx="1584000" cy="55539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 eaLnBrk="0">
              <a:lnSpc>
                <a:spcPct val="120000"/>
              </a:lnSpc>
            </a:pPr>
            <a:r>
              <a:rPr lang="en-US" sz="85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Manual and remote start, MRS application</a:t>
            </a:r>
            <a:endParaRPr sz="850" kern="700" dirty="0">
              <a:solidFill>
                <a:schemeClr val="tx1">
                  <a:lumMod val="65000"/>
                  <a:lumOff val="35000"/>
                </a:schemeClr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9750" y="2943268"/>
            <a:ext cx="545593" cy="417577"/>
          </a:xfrm>
          <a:prstGeom prst="rect">
            <a:avLst/>
          </a:prstGeom>
        </p:spPr>
      </p:pic>
      <p:sp>
        <p:nvSpPr>
          <p:cNvPr id="26" name="圆角矩形 25"/>
          <p:cNvSpPr/>
          <p:nvPr/>
        </p:nvSpPr>
        <p:spPr>
          <a:xfrm>
            <a:off x="4859837" y="2322700"/>
            <a:ext cx="1800000" cy="1152000"/>
          </a:xfrm>
          <a:prstGeom prst="roundRect">
            <a:avLst>
              <a:gd name="adj" fmla="val 7296"/>
            </a:avLst>
          </a:prstGeom>
          <a:solidFill>
            <a:srgbClr val="F0F0F0"/>
          </a:solidFill>
        </p:spPr>
        <p:txBody>
          <a:bodyPr vert="horz" wrap="square" lIns="0" tIns="0" rIns="0" bIns="0" rtlCol="0" anchor="ctr"/>
          <a:lstStyle/>
          <a:p>
            <a:pPr algn="l" rtl="0" ea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>
            <p:custDataLst>
              <p:tags r:id="rId3"/>
            </p:custDataLst>
          </p:nvPr>
        </p:nvSpPr>
        <p:spPr>
          <a:xfrm>
            <a:off x="4967837" y="2394700"/>
            <a:ext cx="1584000" cy="55539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 eaLnBrk="0">
              <a:lnSpc>
                <a:spcPct val="120000"/>
              </a:lnSpc>
            </a:pPr>
            <a:r>
              <a:rPr lang="fr-FR" sz="85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Auto mains failure, AMF application</a:t>
            </a:r>
            <a:endParaRPr sz="850" kern="700" dirty="0">
              <a:solidFill>
                <a:schemeClr val="tx1">
                  <a:lumMod val="65000"/>
                  <a:lumOff val="35000"/>
                </a:schemeClr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9837" y="2950093"/>
            <a:ext cx="542545" cy="417577"/>
          </a:xfrm>
          <a:prstGeom prst="rect">
            <a:avLst/>
          </a:prstGeom>
        </p:spPr>
      </p:pic>
      <p:sp>
        <p:nvSpPr>
          <p:cNvPr id="29" name="圆角矩形 28"/>
          <p:cNvSpPr/>
          <p:nvPr/>
        </p:nvSpPr>
        <p:spPr>
          <a:xfrm>
            <a:off x="539837" y="3781812"/>
            <a:ext cx="1800000" cy="1152000"/>
          </a:xfrm>
          <a:prstGeom prst="roundRect">
            <a:avLst>
              <a:gd name="adj" fmla="val 7296"/>
            </a:avLst>
          </a:prstGeom>
          <a:solidFill>
            <a:srgbClr val="F0F0F0"/>
          </a:solidFill>
        </p:spPr>
        <p:txBody>
          <a:bodyPr vert="horz" wrap="square" lIns="0" tIns="0" rIns="0" bIns="0" rtlCol="0" anchor="ctr"/>
          <a:lstStyle/>
          <a:p>
            <a:pPr algn="l" rtl="0" ea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31" name="文本框 30"/>
          <p:cNvSpPr txBox="1"/>
          <p:nvPr>
            <p:custDataLst>
              <p:tags r:id="rId4"/>
            </p:custDataLst>
          </p:nvPr>
        </p:nvSpPr>
        <p:spPr>
          <a:xfrm>
            <a:off x="647837" y="3853812"/>
            <a:ext cx="1584000" cy="55539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 eaLnBrk="0">
              <a:lnSpc>
                <a:spcPct val="120000"/>
              </a:lnSpc>
            </a:pPr>
            <a:r>
              <a:rPr lang="en-US" sz="850" kern="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Genset</a:t>
            </a:r>
            <a:r>
              <a:rPr lang="en-US" sz="85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 power / frequency / factor / voltage / current detection</a:t>
            </a:r>
            <a:endParaRPr sz="850" kern="700" dirty="0">
              <a:solidFill>
                <a:schemeClr val="tx1">
                  <a:lumMod val="65000"/>
                  <a:lumOff val="35000"/>
                </a:schemeClr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2699837" y="3781812"/>
            <a:ext cx="1800000" cy="1152000"/>
          </a:xfrm>
          <a:prstGeom prst="roundRect">
            <a:avLst>
              <a:gd name="adj" fmla="val 7296"/>
            </a:avLst>
          </a:prstGeom>
          <a:solidFill>
            <a:srgbClr val="F0F0F0"/>
          </a:solidFill>
        </p:spPr>
        <p:txBody>
          <a:bodyPr vert="horz" wrap="square" lIns="0" tIns="0" rIns="0" bIns="0" rtlCol="0" anchor="ctr"/>
          <a:lstStyle/>
          <a:p>
            <a:pPr algn="l" rtl="0" ea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>
            <p:custDataLst>
              <p:tags r:id="rId5"/>
            </p:custDataLst>
          </p:nvPr>
        </p:nvSpPr>
        <p:spPr>
          <a:xfrm>
            <a:off x="2807837" y="3853812"/>
            <a:ext cx="1584000" cy="55539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 eaLnBrk="0">
              <a:lnSpc>
                <a:spcPct val="120000"/>
              </a:lnSpc>
            </a:pPr>
            <a:r>
              <a:rPr lang="en-US" sz="85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Engine/alternator/generator protections, emergency stop</a:t>
            </a:r>
            <a:endParaRPr sz="850" kern="700" dirty="0">
              <a:solidFill>
                <a:schemeClr val="tx1">
                  <a:lumMod val="65000"/>
                  <a:lumOff val="35000"/>
                </a:schemeClr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4859837" y="3781812"/>
            <a:ext cx="1800000" cy="1152000"/>
          </a:xfrm>
          <a:prstGeom prst="roundRect">
            <a:avLst>
              <a:gd name="adj" fmla="val 7296"/>
            </a:avLst>
          </a:prstGeom>
          <a:solidFill>
            <a:srgbClr val="F0F0F0"/>
          </a:solidFill>
        </p:spPr>
        <p:txBody>
          <a:bodyPr vert="horz" wrap="square" lIns="0" tIns="0" rIns="0" bIns="0" rtlCol="0" anchor="ctr"/>
          <a:lstStyle/>
          <a:p>
            <a:pPr algn="l" rtl="0" ea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38" name="文本框 37"/>
          <p:cNvSpPr txBox="1"/>
          <p:nvPr>
            <p:custDataLst>
              <p:tags r:id="rId6"/>
            </p:custDataLst>
          </p:nvPr>
        </p:nvSpPr>
        <p:spPr>
          <a:xfrm>
            <a:off x="4967837" y="3853812"/>
            <a:ext cx="1584000" cy="55539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eaLnBrk="0">
              <a:lnSpc>
                <a:spcPct val="120000"/>
              </a:lnSpc>
            </a:pPr>
            <a:r>
              <a:rPr lang="en-US" sz="85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Event log / running hours history/maintenance warning, LCD screen</a:t>
            </a:r>
            <a:endParaRPr sz="850" kern="700" dirty="0">
              <a:solidFill>
                <a:schemeClr val="tx1">
                  <a:lumMod val="65000"/>
                  <a:lumOff val="35000"/>
                </a:schemeClr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541287" y="5202700"/>
            <a:ext cx="1800000" cy="1152000"/>
          </a:xfrm>
          <a:prstGeom prst="roundRect">
            <a:avLst>
              <a:gd name="adj" fmla="val 7296"/>
            </a:avLst>
          </a:prstGeom>
          <a:solidFill>
            <a:srgbClr val="F0F0F0"/>
          </a:solidFill>
        </p:spPr>
        <p:txBody>
          <a:bodyPr vert="horz" wrap="square" lIns="0" tIns="0" rIns="0" bIns="0" rtlCol="0" anchor="ctr"/>
          <a:lstStyle/>
          <a:p>
            <a:pPr algn="l" rtl="0" ea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40" name="文本框 39"/>
          <p:cNvSpPr txBox="1"/>
          <p:nvPr>
            <p:custDataLst>
              <p:tags r:id="rId7"/>
            </p:custDataLst>
          </p:nvPr>
        </p:nvSpPr>
        <p:spPr>
          <a:xfrm>
            <a:off x="649287" y="5274700"/>
            <a:ext cx="1584000" cy="55539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 eaLnBrk="0">
              <a:lnSpc>
                <a:spcPct val="120000"/>
              </a:lnSpc>
            </a:pPr>
            <a:r>
              <a:rPr lang="en-US" sz="85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User access management,</a:t>
            </a:r>
          </a:p>
          <a:p>
            <a:pPr algn="just" eaLnBrk="0">
              <a:lnSpc>
                <a:spcPct val="120000"/>
              </a:lnSpc>
            </a:pPr>
            <a:r>
              <a:rPr lang="en-US" sz="85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software and tools are easy</a:t>
            </a:r>
          </a:p>
          <a:p>
            <a:pPr algn="just" eaLnBrk="0">
              <a:lnSpc>
                <a:spcPct val="120000"/>
              </a:lnSpc>
            </a:pPr>
            <a:r>
              <a:rPr lang="en-US" sz="85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to use</a:t>
            </a:r>
            <a:endParaRPr sz="850" kern="700" dirty="0">
              <a:solidFill>
                <a:schemeClr val="tx1">
                  <a:lumMod val="65000"/>
                  <a:lumOff val="35000"/>
                </a:schemeClr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2699837" y="5201675"/>
            <a:ext cx="1800000" cy="1152000"/>
          </a:xfrm>
          <a:prstGeom prst="roundRect">
            <a:avLst>
              <a:gd name="adj" fmla="val 7296"/>
            </a:avLst>
          </a:prstGeom>
          <a:solidFill>
            <a:srgbClr val="F0F0F0"/>
          </a:solidFill>
        </p:spPr>
        <p:txBody>
          <a:bodyPr vert="horz" wrap="square" lIns="0" tIns="0" rIns="0" bIns="0" rtlCol="0" anchor="ctr"/>
          <a:lstStyle/>
          <a:p>
            <a:pPr algn="l" rtl="0" ea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42" name="文本框 41"/>
          <p:cNvSpPr txBox="1"/>
          <p:nvPr>
            <p:custDataLst>
              <p:tags r:id="rId8"/>
            </p:custDataLst>
          </p:nvPr>
        </p:nvSpPr>
        <p:spPr>
          <a:xfrm>
            <a:off x="2735837" y="5273675"/>
            <a:ext cx="1692000" cy="55539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 eaLnBrk="0">
              <a:lnSpc>
                <a:spcPct val="120000"/>
              </a:lnSpc>
            </a:pPr>
            <a:r>
              <a:rPr lang="en-US" sz="85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Input or output configuration, USB communication port</a:t>
            </a:r>
            <a:endParaRPr sz="850" kern="700" dirty="0">
              <a:solidFill>
                <a:schemeClr val="tx1">
                  <a:lumMod val="65000"/>
                  <a:lumOff val="35000"/>
                </a:schemeClr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1031" y="4393964"/>
            <a:ext cx="551689" cy="448057"/>
          </a:xfrm>
          <a:prstGeom prst="rect">
            <a:avLst/>
          </a:prstGeom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8747" y="4336435"/>
            <a:ext cx="509017" cy="484633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6914" y="4443683"/>
            <a:ext cx="652273" cy="393193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3536" y="5734818"/>
            <a:ext cx="457201" cy="463297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957" y="5753499"/>
            <a:ext cx="423673" cy="457201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837" y="6570700"/>
            <a:ext cx="5663664" cy="3527449"/>
          </a:xfrm>
          <a:prstGeom prst="rect">
            <a:avLst/>
          </a:prstGeom>
        </p:spPr>
      </p:pic>
      <p:sp>
        <p:nvSpPr>
          <p:cNvPr id="49" name="文本框 48"/>
          <p:cNvSpPr txBox="1"/>
          <p:nvPr>
            <p:custDataLst>
              <p:tags r:id="rId9"/>
            </p:custDataLst>
          </p:nvPr>
        </p:nvSpPr>
        <p:spPr>
          <a:xfrm>
            <a:off x="1110870" y="8370700"/>
            <a:ext cx="865802" cy="2467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eaLnBrk="0">
              <a:lnSpc>
                <a:spcPct val="120000"/>
              </a:lnSpc>
            </a:pPr>
            <a:r>
              <a:rPr lang="en-US" sz="9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MAINS</a:t>
            </a:r>
          </a:p>
        </p:txBody>
      </p:sp>
      <p:sp>
        <p:nvSpPr>
          <p:cNvPr id="50" name="文本框 49"/>
          <p:cNvSpPr txBox="1"/>
          <p:nvPr>
            <p:custDataLst>
              <p:tags r:id="rId10"/>
            </p:custDataLst>
          </p:nvPr>
        </p:nvSpPr>
        <p:spPr>
          <a:xfrm>
            <a:off x="1719819" y="9648111"/>
            <a:ext cx="865802" cy="2467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eaLnBrk="0">
              <a:lnSpc>
                <a:spcPct val="120000"/>
              </a:lnSpc>
            </a:pPr>
            <a:r>
              <a:rPr lang="en-US" sz="9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GENSET</a:t>
            </a:r>
          </a:p>
        </p:txBody>
      </p:sp>
      <p:sp>
        <p:nvSpPr>
          <p:cNvPr id="51" name="文本框 50"/>
          <p:cNvSpPr txBox="1"/>
          <p:nvPr>
            <p:custDataLst>
              <p:tags r:id="rId11"/>
            </p:custDataLst>
          </p:nvPr>
        </p:nvSpPr>
        <p:spPr>
          <a:xfrm>
            <a:off x="3136419" y="8801690"/>
            <a:ext cx="1003418" cy="2467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eaLnBrk="0">
              <a:lnSpc>
                <a:spcPct val="120000"/>
              </a:lnSpc>
            </a:pPr>
            <a:r>
              <a:rPr lang="en-US" sz="9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CONTROLLER</a:t>
            </a:r>
          </a:p>
        </p:txBody>
      </p:sp>
      <p:sp>
        <p:nvSpPr>
          <p:cNvPr id="52" name="文本框 51"/>
          <p:cNvSpPr txBox="1"/>
          <p:nvPr>
            <p:custDataLst>
              <p:tags r:id="rId12"/>
            </p:custDataLst>
          </p:nvPr>
        </p:nvSpPr>
        <p:spPr>
          <a:xfrm>
            <a:off x="5323965" y="9286077"/>
            <a:ext cx="1252873" cy="48541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eaLnBrk="0">
              <a:lnSpc>
                <a:spcPct val="120000"/>
              </a:lnSpc>
            </a:pPr>
            <a:r>
              <a:rPr lang="en-US" sz="9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Remote control</a:t>
            </a:r>
          </a:p>
          <a:p>
            <a:pPr algn="ctr" eaLnBrk="0">
              <a:lnSpc>
                <a:spcPct val="120000"/>
              </a:lnSpc>
            </a:pPr>
            <a:r>
              <a:rPr lang="en-US" sz="9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and Cloud services</a:t>
            </a:r>
          </a:p>
        </p:txBody>
      </p:sp>
      <p:sp>
        <p:nvSpPr>
          <p:cNvPr id="53" name="文本框 52"/>
          <p:cNvSpPr txBox="1"/>
          <p:nvPr>
            <p:custDataLst>
              <p:tags r:id="rId13"/>
            </p:custDataLst>
          </p:nvPr>
        </p:nvSpPr>
        <p:spPr>
          <a:xfrm>
            <a:off x="5499141" y="8244619"/>
            <a:ext cx="1003418" cy="2467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eaLnBrk="0">
              <a:lnSpc>
                <a:spcPct val="120000"/>
              </a:lnSpc>
            </a:pPr>
            <a:r>
              <a:rPr lang="en-US" sz="9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LOAD</a:t>
            </a:r>
          </a:p>
        </p:txBody>
      </p:sp>
    </p:spTree>
    <p:extLst>
      <p:ext uri="{BB962C8B-B14F-4D97-AF65-F5344CB8AC3E}">
        <p14:creationId xmlns:p14="http://schemas.microsoft.com/office/powerpoint/2010/main" val="3193858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内容占位符 5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39000933"/>
              </p:ext>
            </p:extLst>
          </p:nvPr>
        </p:nvGraphicFramePr>
        <p:xfrm>
          <a:off x="467837" y="1863732"/>
          <a:ext cx="3168000" cy="2330968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16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3779"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1" kern="1200" dirty="0">
                          <a:solidFill>
                            <a:srgbClr val="464B52"/>
                          </a:solidFill>
                          <a:effectLst/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STANDARD  FEATURES</a:t>
                      </a:r>
                    </a:p>
                  </a:txBody>
                  <a:tcPr marL="180000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7189">
                <a:tc>
                  <a:txBody>
                    <a:bodyPr/>
                    <a:lstStyle/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Diesel engine，50 degrees radiator, brushless alternator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Intelligent controller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Output circuit breaker (up to1250A</a:t>
                      </a: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)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Maintenance-free start battery, battery charge, battery switch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Steel industrial silencer, exhaust bellows and elbows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Steel </a:t>
                      </a:r>
                      <a:r>
                        <a:rPr lang="en-US" sz="800" b="0" kern="1200" dirty="0" err="1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chasis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and anti-vibration shock absorbers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Lifting and moving structure, expansion of oil and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coolant discharge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Moving parts protection, hot parts protection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Special toolbox, delivery attached documentation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25932204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395837" y="1458700"/>
            <a:ext cx="2736000" cy="41788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eaLnBrk="0">
              <a:lnSpc>
                <a:spcPct val="120000"/>
              </a:lnSpc>
            </a:pPr>
            <a:r>
              <a:rPr lang="en-US" altLang="zh-CN" sz="1600" b="1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GENSET  VERSION</a:t>
            </a:r>
            <a:endParaRPr lang="zh-CN" altLang="en-US" sz="1600" b="1" dirty="0">
              <a:solidFill>
                <a:srgbClr val="464B52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graphicFrame>
        <p:nvGraphicFramePr>
          <p:cNvPr id="5" name="内容占位符 5"/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93875555"/>
              </p:ext>
            </p:extLst>
          </p:nvPr>
        </p:nvGraphicFramePr>
        <p:xfrm>
          <a:off x="3851837" y="1867222"/>
          <a:ext cx="3096000" cy="5855478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56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9136">
                  <a:extLst>
                    <a:ext uri="{9D8B030D-6E8A-4147-A177-3AD203B41FA5}">
                      <a16:colId xmlns:a16="http://schemas.microsoft.com/office/drawing/2014/main" val="2488962130"/>
                    </a:ext>
                  </a:extLst>
                </a:gridCol>
              </a:tblGrid>
              <a:tr h="343779">
                <a:tc gridSpan="2"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1" kern="1200" dirty="0">
                          <a:solidFill>
                            <a:srgbClr val="464B52"/>
                          </a:solidFill>
                          <a:effectLst/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OPTIONAL   FEATURES</a:t>
                      </a:r>
                    </a:p>
                  </a:txBody>
                  <a:tcPr marL="180000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5699">
                <a:tc>
                  <a:txBody>
                    <a:bodyPr/>
                    <a:lstStyle/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1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ENGINE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Water jacket preheater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Oil Preheater, oil level maintainer,  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   oil manual pump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Heavy air filtration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Residential silencer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Remote radiator, heat exchanger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25932204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1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ALTERNATOR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PMG/AREP excitation system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Anti-condensation heater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Winding/bearing RTD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Double bearing structure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IP44 protection class</a:t>
                      </a:r>
                    </a:p>
                  </a:txBody>
                  <a:tcPr marL="180000" marR="81653" marT="42551" marB="42551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8905855"/>
                  </a:ext>
                </a:extLst>
              </a:tr>
              <a:tr h="1584000">
                <a:tc>
                  <a:txBody>
                    <a:bodyPr/>
                    <a:lstStyle/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1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CONTROL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1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SYSTEM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Synchronizing panel, remote   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   control panel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RS232/485, 4G &amp; GPS wireless, 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   </a:t>
                      </a:r>
                      <a:r>
                        <a:rPr lang="en-US" sz="800" b="0" kern="1200" dirty="0" err="1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ethernet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communication card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Additional digital/analog</a:t>
                      </a:r>
                      <a:r>
                        <a:rPr lang="en-US" sz="800" b="0" kern="1200" baseline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baseline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   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input/output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Monitoring software, mobile APP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Ni-Cad batteries</a:t>
                      </a:r>
                    </a:p>
                  </a:txBody>
                  <a:tcPr marL="180000" marR="81653" marT="42551" marB="42551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8886693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1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GENERATING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1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SET</a:t>
                      </a:r>
                    </a:p>
                  </a:txBody>
                  <a:tcPr marL="180000" marR="81653" marT="42551" marB="42551" anchor="ctr">
                    <a:lnL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External fuel tank, automatic fuel 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   feeding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ATS / output / combining / 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   distribution cabinet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Load test cabinet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Mobile trailer</a:t>
                      </a:r>
                    </a:p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◆ 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Customized design</a:t>
                      </a:r>
                    </a:p>
                  </a:txBody>
                  <a:tcPr marL="180000" marR="81653" marT="42551" marB="42551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2090793"/>
                  </a:ext>
                </a:extLst>
              </a:tr>
            </a:tbl>
          </a:graphicData>
        </a:graphic>
      </p:graphicFrame>
      <p:pic>
        <p:nvPicPr>
          <p:cNvPr id="8" name="图片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799" y="4338700"/>
            <a:ext cx="2923038" cy="438913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f0e48a33-d7b1-4d2c-84ff-7b32dd322aea"/>
  <p:tag name="COMMONDATA" val="eyJoZGlkIjoiNTc1ZThmMjcyMTc4NDg0YjIyMzQ3YThlOTllYzBhYz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79bbabf3-6f09-4086-897c-a6b350cf9609}"/>
  <p:tag name="KSO_WM_BEAUTIFY_FLAG" val=""/>
  <p:tag name="TABLE_ENDDRAG_ORIGIN_RECT" val="533*170"/>
  <p:tag name="TABLE_ENDDRAG_RECT" val="29*305*533*17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e467ec9-fb3c-43e7-9fed-ffff4340bbee}"/>
  <p:tag name="KSO_WM_BEAUTIFY_FLAG" val=""/>
  <p:tag name="TABLE_ENDDRAG_ORIGIN_RECT" val="266*307"/>
  <p:tag name="TABLE_ENDDRAG_RECT" val="304*293*266*30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1b70c436-e7e3-414b-8c11-232f7a184a58}"/>
  <p:tag name="TABLE_ENDDRAG_ORIGIN_RECT" val="349*150"/>
  <p:tag name="TABLE_ENDDRAG_RECT" val="29*543*349*150"/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af2132d9-7b93-45ab-b0f7-6984477cb37b}"/>
  <p:tag name="TABLE_ENDDRAG_ORIGIN_RECT" val="349*150"/>
  <p:tag name="TABLE_ENDDRAG_RECT" val="29*543*349*150"/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247e24a5-a755-4561-bd45-52cdf12e4cdb}"/>
  <p:tag name="TABLE_ENDDRAG_ORIGIN_RECT" val="349*150"/>
  <p:tag name="TABLE_ENDDRAG_RECT" val="29*543*349*150"/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00477e08-504c-4aab-b7f4-89944f60048e}"/>
  <p:tag name="TABLE_ENDDRAG_ORIGIN_RECT" val="349*150"/>
  <p:tag name="TABLE_ENDDRAG_RECT" val="29*543*349*150"/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00477e08-504c-4aab-b7f4-89944f60048e}"/>
  <p:tag name="TABLE_ENDDRAG_ORIGIN_RECT" val="349*150"/>
  <p:tag name="TABLE_ENDDRAG_RECT" val="29*543*349*150"/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00477e08-504c-4aab-b7f4-89944f60048e}"/>
  <p:tag name="TABLE_ENDDRAG_ORIGIN_RECT" val="349*150"/>
  <p:tag name="TABLE_ENDDRAG_RECT" val="29*543*349*150"/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00477e08-504c-4aab-b7f4-89944f60048e}"/>
  <p:tag name="TABLE_ENDDRAG_ORIGIN_RECT" val="349*150"/>
  <p:tag name="TABLE_ENDDRAG_RECT" val="29*543*349*150"/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00477e08-504c-4aab-b7f4-89944f60048e}"/>
  <p:tag name="TABLE_ENDDRAG_ORIGIN_RECT" val="349*150"/>
  <p:tag name="TABLE_ENDDRAG_RECT" val="29*543*349*150"/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00477e08-504c-4aab-b7f4-89944f60048e}"/>
  <p:tag name="TABLE_ENDDRAG_ORIGIN_RECT" val="349*150"/>
  <p:tag name="TABLE_ENDDRAG_RECT" val="29*543*349*150"/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af2132d9-7b93-45ab-b0f7-6984477cb37b}"/>
  <p:tag name="TABLE_ENDDRAG_ORIGIN_RECT" val="349*150"/>
  <p:tag name="TABLE_ENDDRAG_RECT" val="29*543*349*150"/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af2132d9-7b93-45ab-b0f7-6984477cb37b}"/>
  <p:tag name="TABLE_ENDDRAG_ORIGIN_RECT" val="349*150"/>
  <p:tag name="TABLE_ENDDRAG_RECT" val="29*543*349*150"/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vert="horz" wrap="square" lIns="0" tIns="0" rIns="0" bIns="0"/>
      <a:lstStyle>
        <a:defPPr algn="l" rtl="0" eaLnBrk="0">
          <a:lnSpc>
            <a:spcPct val="110000"/>
          </a:lnSpc>
          <a:spcBef>
            <a:spcPts val="0"/>
          </a:spcBef>
          <a:spcAft>
            <a:spcPts val="0"/>
          </a:spcAft>
          <a:defRPr lang="en-US" altLang="en-US" sz="1000" dirty="0">
            <a:solidFill>
              <a:schemeClr val="tx1">
                <a:lumMod val="65000"/>
                <a:lumOff val="35000"/>
              </a:schemeClr>
            </a:solidFill>
            <a:latin typeface="Arial" panose="020B0604020202020204" pitchFamily="34" charset="0"/>
            <a:ea typeface="黑体" panose="02010609060101010101" charset="-122"/>
            <a:cs typeface="Arial" panose="020B0604020202020204" pitchFamily="34" charset="0"/>
          </a:defRPr>
        </a:defPPr>
      </a:lstStyle>
    </a:spDef>
    <a:txDef>
      <a:spPr>
        <a:noFill/>
      </a:spPr>
      <a:bodyPr wrap="square" rtlCol="0">
        <a:noAutofit/>
      </a:bodyPr>
      <a:lstStyle>
        <a:defPPr algn="l" rtl="0" eaLnBrk="0">
          <a:lnSpc>
            <a:spcPct val="120000"/>
          </a:lnSpc>
          <a:spcBef>
            <a:spcPts val="0"/>
          </a:spcBef>
          <a:spcAft>
            <a:spcPts val="0"/>
          </a:spcAft>
          <a:defRPr lang="en-US" altLang="en-US" sz="1000" dirty="0">
            <a:solidFill>
              <a:schemeClr val="tx1">
                <a:lumMod val="65000"/>
                <a:lumOff val="35000"/>
              </a:schemeClr>
            </a:solidFill>
            <a:latin typeface="Arial" panose="020B0604020202020204" pitchFamily="34" charset="0"/>
            <a:ea typeface="黑体" panose="02010609060101010101" charset="-122"/>
            <a:cs typeface="Arial" panose="020B0604020202020204" pitchFamily="34" charset="0"/>
            <a:sym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559</TotalTime>
  <Words>859</Words>
  <Application>Microsoft Office PowerPoint</Application>
  <PresentationFormat>自定义</PresentationFormat>
  <Paragraphs>214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Arial</vt:lpstr>
      <vt:lpstr>Bai Jamjuree SemiBold</vt:lpstr>
      <vt:lpstr>Bai Jamjuree Medium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赛辉 姚</cp:lastModifiedBy>
  <cp:revision>312</cp:revision>
  <dcterms:created xsi:type="dcterms:W3CDTF">2023-06-05T06:07:00Z</dcterms:created>
  <dcterms:modified xsi:type="dcterms:W3CDTF">2025-04-27T03:04:15Z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wqlLaW5nc29mdCBQREYgdG8gV1BTIDgw</vt:lpwstr>
  </property>
  <property fmtid="{D5CDD505-2E9C-101B-9397-08002B2CF9AE}" pid="3" name="Created">
    <vt:filetime>2023-06-14T13:58:16Z</vt:filetime>
  </property>
  <property fmtid="{D5CDD505-2E9C-101B-9397-08002B2CF9AE}" pid="4" name="ICV">
    <vt:lpwstr>83A9200C92AB44AEA78A85364E4677A1_13</vt:lpwstr>
  </property>
  <property fmtid="{D5CDD505-2E9C-101B-9397-08002B2CF9AE}" pid="5" name="KSOProductBuildVer">
    <vt:lpwstr>2052-12.1.0.15712</vt:lpwstr>
  </property>
</Properties>
</file>