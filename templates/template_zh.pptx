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395" r:id="rId3"/>
    <p:sldId id="369" r:id="rId4"/>
    <p:sldId id="404" r:id="rId5"/>
    <p:sldId id="405" r:id="rId6"/>
  </p:sldIdLst>
  <p:sldSz cx="7559675" cy="10693400"/>
  <p:notesSz cx="6858000" cy="9144000"/>
  <p:embeddedFontLst>
    <p:embeddedFont>
      <p:font typeface="黑体" panose="02010609060101010101" charset="-122"/>
      <p:regular r:id="rId12"/>
    </p:embeddedFont>
    <p:embeddedFont>
      <p:font typeface="思源黑体 CN Heavy" panose="020B0A00000000000000" pitchFamily="34" charset="-122"/>
      <p:bold r:id="rId13"/>
    </p:embeddedFont>
    <p:embeddedFont>
      <p:font typeface="Bai Jamjuree SemiBold" panose="00000700000000000000" pitchFamily="2" charset="-34"/>
      <p:bold r:id="rId14"/>
    </p:embeddedFont>
    <p:embeddedFont>
      <p:font typeface="思源黑体 CN Medium" panose="020B0600000000000000" pitchFamily="34" charset="-122"/>
      <p:regular r:id="rId15"/>
    </p:embeddedFont>
    <p:embeddedFont>
      <p:font typeface="Bai Jamjuree Medium" panose="00000600000000000000" pitchFamily="2" charset="-34"/>
      <p:regular r:id="rId16"/>
    </p:embeddedFont>
    <p:embeddedFont>
      <p:font typeface="思源黑体 CN Normal" panose="020B0400000000000000" pitchFamily="3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88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4558" userDrawn="1">
          <p15:clr>
            <a:srgbClr val="A4A3A4"/>
          </p15:clr>
        </p15:guide>
        <p15:guide id="4" orient="horz" pos="690" userDrawn="1">
          <p15:clr>
            <a:srgbClr val="A4A3A4"/>
          </p15:clr>
        </p15:guide>
        <p15:guide id="5" pos="2302" userDrawn="1">
          <p15:clr>
            <a:srgbClr val="A4A3A4"/>
          </p15:clr>
        </p15:guide>
        <p15:guide id="6" pos="2420" userDrawn="1">
          <p15:clr>
            <a:srgbClr val="A4A3A4"/>
          </p15:clr>
        </p15:guide>
        <p15:guide id="7" orient="horz" pos="8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A89"/>
    <a:srgbClr val="51545D"/>
    <a:srgbClr val="E6E6E6"/>
    <a:srgbClr val="464B52"/>
    <a:srgbClr val="F0F0F0"/>
    <a:srgbClr val="DCDDDD"/>
    <a:srgbClr val="888888"/>
    <a:srgbClr val="DBDDDC"/>
    <a:srgbClr val="FFFFFF"/>
    <a:srgbClr val="8B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>
        <p:scale>
          <a:sx n="125" d="100"/>
          <a:sy n="125" d="100"/>
        </p:scale>
        <p:origin x="1596" y="90"/>
      </p:cViewPr>
      <p:guideLst>
        <p:guide orient="horz" pos="6588"/>
        <p:guide pos="249"/>
        <p:guide pos="4558"/>
        <p:guide orient="horz" pos="690"/>
        <p:guide pos="2302"/>
        <p:guide pos="2420"/>
        <p:guide orient="horz" pos="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4.xml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144" y="1143000"/>
            <a:ext cx="218171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4959" y="1750055"/>
            <a:ext cx="5669756" cy="3722888"/>
          </a:xfrm>
        </p:spPr>
        <p:txBody>
          <a:bodyPr anchor="b"/>
          <a:lstStyle>
            <a:lvl1pPr algn="ctr">
              <a:defRPr sz="364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4959" y="5616511"/>
            <a:ext cx="5669756" cy="2581762"/>
          </a:xfrm>
        </p:spPr>
        <p:txBody>
          <a:bodyPr/>
          <a:lstStyle>
            <a:lvl1pPr marL="0" indent="0" algn="ctr">
              <a:buNone/>
              <a:defRPr sz="1455"/>
            </a:lvl1pPr>
            <a:lvl2pPr marL="277495" indent="0" algn="ctr">
              <a:buNone/>
              <a:defRPr sz="1215"/>
            </a:lvl2pPr>
            <a:lvl3pPr marL="554990" indent="0" algn="ctr">
              <a:buNone/>
              <a:defRPr sz="1095"/>
            </a:lvl3pPr>
            <a:lvl4pPr marL="833120" indent="0" algn="ctr">
              <a:buNone/>
              <a:defRPr sz="970"/>
            </a:lvl4pPr>
            <a:lvl5pPr marL="1110615" indent="0" algn="ctr">
              <a:buNone/>
              <a:defRPr sz="970"/>
            </a:lvl5pPr>
            <a:lvl6pPr marL="1388110" indent="0" algn="ctr">
              <a:buNone/>
              <a:defRPr sz="970"/>
            </a:lvl6pPr>
            <a:lvl7pPr marL="1665605" indent="0" algn="ctr">
              <a:buNone/>
              <a:defRPr sz="970"/>
            </a:lvl7pPr>
            <a:lvl8pPr marL="1943100" indent="0" algn="ctr">
              <a:buNone/>
              <a:defRPr sz="970"/>
            </a:lvl8pPr>
            <a:lvl9pPr marL="2221230" indent="0" algn="ctr">
              <a:buNone/>
              <a:defRPr sz="97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.png"/><Relationship Id="rId1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未标题-1_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65" y="8886716"/>
            <a:ext cx="1759795" cy="539199"/>
          </a:xfrm>
          <a:prstGeom prst="rect">
            <a:avLst/>
          </a:prstGeom>
        </p:spPr>
      </p:pic>
      <p:graphicFrame>
        <p:nvGraphicFramePr>
          <p:cNvPr id="26" name="内容占位符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851837" y="4338700"/>
          <a:ext cx="3096000" cy="166754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88797"/>
                <a:gridCol w="716623"/>
                <a:gridCol w="590580"/>
              </a:tblGrid>
              <a:tr h="304211">
                <a:tc>
                  <a:txBody>
                    <a:bodyPr/>
                    <a:lstStyle/>
                    <a:p>
                      <a:pPr lvl="0" indent="0" algn="l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 u="none" strike="noStrike" kern="1200" baseline="0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+mn-cs"/>
                        </a:rPr>
                        <a:t>应用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</a:endParaRP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  <a:sym typeface="+mn-ea"/>
                        </a:rPr>
                        <a:t>主用</a:t>
                      </a:r>
                      <a:endParaRPr lang="en-US" sz="1000" b="1" dirty="0">
                        <a:solidFill>
                          <a:srgbClr val="464B52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  <a:sym typeface="+mn-ea"/>
                        </a:rPr>
                        <a:t>备用</a:t>
                      </a:r>
                      <a:endParaRPr lang="en-US" sz="800" b="1" dirty="0">
                        <a:solidFill>
                          <a:srgbClr val="464B52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</a:tr>
              <a:tr h="281913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功率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(kVA)</a:t>
                      </a:r>
                      <a:endParaRPr lang="en-US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功率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(kW)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频率</a:t>
                      </a:r>
                      <a:r>
                        <a:rPr 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/ </a:t>
                      </a:r>
                      <a:r>
                        <a:rPr lang="zh-CN" alt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相数</a:t>
                      </a:r>
                      <a:r>
                        <a:rPr 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/ </a:t>
                      </a:r>
                      <a:r>
                        <a:rPr lang="zh-CN" alt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功率因素</a:t>
                      </a:r>
                      <a:endParaRPr lang="en-US" sz="800" b="0" spc="-50" baseline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标准电压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可用电压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535719" y="657209"/>
            <a:ext cx="1844926" cy="29617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eaLnBrk="0"/>
            <a:r>
              <a:rPr lang="zh-CN" altLang="en-US" sz="900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采用</a:t>
            </a:r>
            <a:r>
              <a:rPr lang="en-US" altLang="zh-CN" sz="900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12345</a:t>
            </a:r>
            <a:r>
              <a:rPr lang="zh-CN" altLang="en-US" sz="900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发动机</a:t>
            </a:r>
            <a:endParaRPr lang="zh-CN" altLang="en-US" sz="900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39" name="内容占位符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851837" y="7007519"/>
          <a:ext cx="3096001" cy="28940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80000"/>
                <a:gridCol w="936000"/>
                <a:gridCol w="1080001"/>
              </a:tblGrid>
              <a:tr h="295197">
                <a:tc gridSpan="3">
                  <a:txBody>
                    <a:bodyPr/>
                    <a:lstStyle/>
                    <a:p>
                      <a:pPr lvl="0" indent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5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</a:rPr>
                        <a:t>基础参数</a:t>
                      </a:r>
                      <a:endParaRPr lang="en-US" altLang="zh-CN" sz="105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</a:endParaRP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tc hMerge="1"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33022">
                <a:tc gridSpan="2"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品牌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534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发动机型号</a:t>
                      </a:r>
                      <a:endParaRPr lang="en-US" altLang="en-US" sz="7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燃料</a:t>
                      </a:r>
                      <a:endParaRPr lang="en-US" sz="8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进气方式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冷却方式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调速方式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气缸排列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510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应用类型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kern="120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思源黑体 CN Medium" panose="020B0600000000000000" pitchFamily="34" charset="-122"/>
                        </a:rPr>
                        <a:t>主用</a:t>
                      </a: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思源黑体 CN Medium" panose="020B0600000000000000" pitchFamily="34" charset="-122"/>
                        </a:rPr>
                        <a:t> &amp; </a:t>
                      </a:r>
                      <a:r>
                        <a:rPr lang="zh-CN" altLang="en-US" sz="8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思源黑体 CN Medium" panose="020B0600000000000000" pitchFamily="34" charset="-122"/>
                        </a:rPr>
                        <a:t>备</a:t>
                      </a:r>
                      <a:r>
                        <a:rPr lang="zh-CN" altLang="en-US" sz="800" b="1" kern="120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思源黑体 CN Medium" panose="020B0600000000000000" pitchFamily="34" charset="-122"/>
                        </a:rPr>
                        <a:t>用</a:t>
                      </a:r>
                      <a:endParaRPr lang="en-US" altLang="en-US" sz="800" b="1" kern="1200" spc="-50" baseline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思源黑体 CN Medium" panose="020B0600000000000000" pitchFamily="34" charset="-122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70862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spc="-5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燃油消耗量</a:t>
                      </a:r>
                      <a:endParaRPr lang="en-US" altLang="zh-CN" sz="800" b="0" spc="-5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备用</a:t>
                      </a: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主用</a:t>
                      </a: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75% </a:t>
                      </a:r>
                      <a:r>
                        <a:rPr lang="zh-CN" altLang="en-US" sz="8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主用</a:t>
                      </a: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50% </a:t>
                      </a:r>
                      <a:r>
                        <a:rPr lang="zh-CN" altLang="en-US" sz="8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主用</a:t>
                      </a: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445428" y="4250489"/>
            <a:ext cx="3168233" cy="1974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标准：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2006/42/EC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欧盟机械安全指令，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2006/95/EC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欧盟低电压指令，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EN 60204-1: 2006+A1: 2009, ENISO 12100: 2010, ENISO 8528 - 13:16, ENISO 13849 - 1:15, EN 60204 - 1: 2018</a:t>
            </a: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PRP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常用功率：根据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ISO 8528-1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，在可变负载应用中，可提供无限的年工作小时数。</a:t>
            </a: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ESP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备用功率：根据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ISO 8528-1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，待机功率额定值适用于在可变负载应用中提供应急电源，不允许超载。</a:t>
            </a: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条件：根据标准，发电机组指定的标称功率为进气温度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25℃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，气压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100kPA (100m A.S.L)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，相对湿度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30%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。</a:t>
            </a:r>
            <a:endParaRPr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7660" y="3928209"/>
            <a:ext cx="966990" cy="22778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5428" y="9434579"/>
            <a:ext cx="3168233" cy="5334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注：重量和尺寸以标准产品为准。根据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2000/14/CE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，在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7m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处提供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75%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初始功率的声音数据。如需实际安装，请与厂家联系。</a:t>
            </a:r>
            <a:endParaRPr lang="zh-CN" altLang="en-US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27" name="内容占位符 5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86363" y="7014716"/>
          <a:ext cx="3168232" cy="158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52373"/>
                <a:gridCol w="1017131"/>
                <a:gridCol w="998728"/>
              </a:tblGrid>
              <a:tr h="274912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8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  <a:sym typeface="+mn-ea"/>
                        </a:rPr>
                        <a:t>敞开型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  <a:sym typeface="+mn-ea"/>
                        </a:rPr>
                        <a:t>静音型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</a:tr>
              <a:tr h="277567">
                <a:tc>
                  <a:txBody>
                    <a:bodyPr/>
                    <a:lstStyle/>
                    <a:p>
                      <a:pPr lvl="0" indent="0" algn="l" fontAlgn="b">
                        <a:spcBef>
                          <a:spcPts val="3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800" b="0" kern="120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31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800" kern="1200" spc="-50" baseline="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31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4259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6570700"/>
            <a:ext cx="2520000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Medium" panose="00000600000000000000" pitchFamily="2" charset="-34"/>
                <a:sym typeface="+mn-ea"/>
              </a:rPr>
              <a:t>常规参数</a:t>
            </a:r>
            <a:endParaRPr lang="zh-CN" altLang="en-US" sz="16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363" y="7232467"/>
            <a:ext cx="1203157" cy="9790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5990" eaLnBrk="0">
              <a:lnSpc>
                <a:spcPts val="1880"/>
              </a:lnSpc>
            </a:pPr>
            <a:r>
              <a:rPr lang="zh-CN" altLang="en-US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尺寸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(L*W*H) (mm)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zh-CN" altLang="en-US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净重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(kg)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zh-CN" altLang="en-US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油箱容量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(L)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zh-CN" altLang="en-US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噪音等级</a:t>
            </a:r>
            <a:r>
              <a:rPr lang="en-US" altLang="zh-CN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 </a:t>
            </a:r>
            <a:endParaRPr lang="zh-CN" altLang="en-US" sz="800" spc="-50" dirty="0">
              <a:solidFill>
                <a:srgbClr val="464B5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6363" y="7016467"/>
            <a:ext cx="1080000" cy="216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lvl="0" eaLnBrk="0">
              <a:lnSpc>
                <a:spcPct val="120000"/>
              </a:lnSpc>
            </a:pPr>
            <a:r>
              <a:rPr lang="zh-CN" altLang="en-US" sz="10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SemiBold" panose="00000700000000000000" pitchFamily="2" charset="-34"/>
              </a:rPr>
              <a:t>类别</a:t>
            </a:r>
            <a:endParaRPr lang="en-US" altLang="zh-CN" sz="10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SemiBold" panose="00000700000000000000" pitchFamily="2" charset="-3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6362" y="8213688"/>
            <a:ext cx="1441334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599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 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负载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&amp;  1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米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     dB(A)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 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负载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&amp; 7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米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     dB(A)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52796" y="8213687"/>
            <a:ext cx="634427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35990" eaLnBrk="0"/>
            <a:r>
              <a:rPr lang="en-US" altLang="en-US" sz="800" dirty="0">
                <a:solidFill>
                  <a:srgbClr val="464B52"/>
                </a:solidFill>
                <a:latin typeface="Bai Jamjuree Medium" panose="00000600000000000000" pitchFamily="2" charset="-34"/>
                <a:cs typeface="Bai Jamjuree Medium" panose="00000600000000000000" pitchFamily="2" charset="-34"/>
                <a:sym typeface="+mn-ea"/>
              </a:rPr>
              <a:t>12345</a:t>
            </a:r>
            <a:endParaRPr lang="en-US" altLang="en-US" sz="800" b="0" dirty="0">
              <a:solidFill>
                <a:srgbClr val="464B52"/>
              </a:solidFill>
              <a:latin typeface="Bai Jamjuree Medium" panose="00000600000000000000" pitchFamily="2" charset="-34"/>
              <a:cs typeface="Bai Jamjuree Medium" panose="00000600000000000000" pitchFamily="2" charset="-34"/>
              <a:sym typeface="+mn-ea"/>
            </a:endParaRPr>
          </a:p>
          <a:p>
            <a:pPr marL="0" marR="0" indent="0" algn="ctr" defTabSz="914400" rtl="0" eaLnBrk="0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800" dirty="0">
                <a:solidFill>
                  <a:srgbClr val="464B52"/>
                </a:solidFill>
                <a:latin typeface="Bai Jamjuree Medium" panose="00000600000000000000" pitchFamily="2" charset="-34"/>
                <a:cs typeface="Bai Jamjuree Medium" panose="00000600000000000000" pitchFamily="2" charset="-34"/>
                <a:sym typeface="+mn-ea"/>
              </a:rPr>
              <a:t>12345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79837" y="3906700"/>
            <a:ext cx="3024001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发电机组额定输出</a:t>
            </a:r>
            <a:endParaRPr lang="zh-CN" altLang="en-US" sz="16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2411" y="6162903"/>
            <a:ext cx="270351" cy="26379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067335" y="6182609"/>
            <a:ext cx="648000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700" spc="-50" dirty="0">
                <a:solidFill>
                  <a:srgbClr val="88888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水冷</a:t>
            </a:r>
            <a:endParaRPr lang="zh-CN" altLang="en-US" sz="700" spc="-50" dirty="0">
              <a:solidFill>
                <a:srgbClr val="888888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7837" y="6162902"/>
            <a:ext cx="261244" cy="263797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012761" y="6189161"/>
            <a:ext cx="639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700" spc="-50" dirty="0">
                <a:solidFill>
                  <a:srgbClr val="88888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三相</a:t>
            </a:r>
            <a:endParaRPr lang="zh-CN" altLang="en-US" sz="700" spc="-50" dirty="0">
              <a:solidFill>
                <a:srgbClr val="888888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76761" y="6189493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12345Hz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7293" y="6171603"/>
            <a:ext cx="246555" cy="2440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7305" y="6181021"/>
            <a:ext cx="239832" cy="238243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596760" y="6192371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700" spc="-50" dirty="0">
                <a:solidFill>
                  <a:srgbClr val="88888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柴油</a:t>
            </a:r>
            <a:endParaRPr lang="zh-CN" altLang="en-US" sz="700" spc="-50" dirty="0">
              <a:solidFill>
                <a:srgbClr val="888888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5719" y="106258"/>
            <a:ext cx="1844926" cy="6252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12345</a:t>
            </a:r>
            <a:endParaRPr lang="zh-CN" altLang="en-US" sz="3000" b="1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883" y="60307"/>
            <a:ext cx="2549954" cy="9042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03" y="1647290"/>
            <a:ext cx="2907479" cy="15679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37" y="1555232"/>
            <a:ext cx="4263340" cy="1659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内容占位符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837" y="1719732"/>
          <a:ext cx="3146963" cy="23889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58642"/>
                <a:gridCol w="1288321"/>
              </a:tblGrid>
              <a:tr h="343779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基本数据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品牌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发动机型号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排量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063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缸数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/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排列方式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缸径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x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冲程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压缩比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发动机转速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工作方式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4-stroke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diesel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3" name="内容占位符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7837" y="4338700"/>
          <a:ext cx="3146964" cy="12838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06408"/>
                <a:gridCol w="740556"/>
              </a:tblGrid>
              <a:tr h="312108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排气系统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30649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spc="-2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排气温度</a:t>
                      </a:r>
                      <a:r>
                        <a:rPr lang="en-US" altLang="zh-CN" sz="800" b="0" kern="1200" spc="-2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zh-CN" altLang="en-US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)</a:t>
                      </a:r>
                      <a:endParaRPr lang="en-US" altLang="en-US" sz="800" b="0" kern="1200" spc="-2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105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排气流量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zh-CN" altLang="en-US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)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419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最大应许排气背压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4" name="内容占位符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69324" y="5992880"/>
          <a:ext cx="3152705" cy="8658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10798"/>
                <a:gridCol w="741907"/>
              </a:tblGrid>
              <a:tr h="320226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燃油系统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84609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燃油泵进油口的最大阻力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最大燃油流量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5" name="内容占位符 5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921845" y="1714706"/>
          <a:ext cx="3097992" cy="11408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56601"/>
                <a:gridCol w="1541391"/>
              </a:tblGrid>
              <a:tr h="35422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冷却系统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786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散热器风扇风量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9323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机油总容量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939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冷却液总容量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30" name="内容占位符 5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921844" y="2950798"/>
          <a:ext cx="3097993" cy="117190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4182"/>
                <a:gridCol w="1473811"/>
              </a:tblGrid>
              <a:tr h="363201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电气系统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8774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启动马达额定电压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386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启动电池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70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蓄电池充电交流发电机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34" name="内容占位符 5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3921844" y="4351405"/>
          <a:ext cx="3097993" cy="14133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32408"/>
                <a:gridCol w="865585"/>
              </a:tblGrid>
              <a:tr h="33718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进气系统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90547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空滤类型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6431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最大应许进气阻力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9588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进气流量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9588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最大应许进气温度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1314700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Medium" panose="00000600000000000000" pitchFamily="2" charset="-34"/>
                <a:sym typeface="+mn-ea"/>
              </a:rPr>
              <a:t>发动机技术参数</a:t>
            </a:r>
            <a:endParaRPr lang="zh-CN" altLang="en-US" sz="16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5837" y="7417671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Medium" panose="00000600000000000000" pitchFamily="2" charset="-34"/>
                <a:sym typeface="+mn-ea"/>
              </a:rPr>
              <a:t>发电机技术参数</a:t>
            </a:r>
            <a:endParaRPr lang="zh-CN" altLang="en-US" sz="16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13" name="内容占位符 5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67837" y="7876840"/>
          <a:ext cx="3245326" cy="21095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6737"/>
                <a:gridCol w="1328589"/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chemeClr val="bg1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基本数据</a:t>
                      </a:r>
                      <a:endParaRPr lang="en-US" altLang="zh-CN" sz="1000" b="1" kern="1200" dirty="0">
                        <a:solidFill>
                          <a:schemeClr val="bg1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绝缘等级 </a:t>
                      </a:r>
                      <a:r>
                        <a:rPr lang="en-US" altLang="zh-CN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&amp; </a:t>
                      </a: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温升等级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励磁系统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12345</a:t>
                      </a:r>
                      <a:endParaRPr lang="en-US" altLang="zh-CN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34450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引出线数量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0509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绕组方式</a:t>
                      </a: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(</a:t>
                      </a: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标准</a:t>
                      </a: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)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节距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相数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12345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内容占位符 5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3723344" y="7876840"/>
          <a:ext cx="3277711" cy="21095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5863"/>
                <a:gridCol w="1341848"/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chemeClr val="bg1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基本数据</a:t>
                      </a:r>
                      <a:endParaRPr lang="en-US" altLang="zh-CN" sz="1000" b="1" kern="1200" dirty="0">
                        <a:solidFill>
                          <a:schemeClr val="bg1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类型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无刷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轴承数量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34450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轴联方式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柔性盘联轴节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0509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最大允许超速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2250 RPM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涂层类型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真空浸漆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防护等级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IP23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</a:tbl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883" y="60307"/>
            <a:ext cx="2549954" cy="904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22070" y="5305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9070" y="5432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745" y="4424680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22070" y="5305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9070" y="5432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745" y="4424680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9d1c77ea-90d5-4317-83ab-2d3bd6afb3f4}"/>
  <p:tag name="KSO_WM_BEAUTIFY_FLAG" val=""/>
  <p:tag name="TABLE_ENDDRAG_ORIGIN_RECT" val="533*170"/>
  <p:tag name="TABLE_ENDDRAG_RECT" val="29*305*533*170"/>
</p:tagLst>
</file>

<file path=ppt/tags/tag2.xml><?xml version="1.0" encoding="utf-8"?>
<p:tagLst xmlns:p="http://schemas.openxmlformats.org/presentationml/2006/main">
  <p:tag name="KSO_WM_UNIT_TABLE_BEAUTIFY" val="smartTable{79e6b6c6-60cb-4e06-8f0e-50629145898b}"/>
  <p:tag name="KSO_WM_BEAUTIFY_FLAG" val=""/>
  <p:tag name="TABLE_ENDDRAG_ORIGIN_RECT" val="266*307"/>
  <p:tag name="TABLE_ENDDRAG_RECT" val="304*293*266*30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TABLE_BEAUTIFY" val="smartTable{36c7c529-854b-4a96-be48-acff6e44b971}"/>
  <p:tag name="TABLE_ENDDRAG_ORIGIN_RECT" val="349*150"/>
  <p:tag name="TABLE_ENDDRAG_RECT" val="29*543*349*150"/>
  <p:tag name="KSO_WM_BEAUTIFY_FLAG" val=""/>
</p:tagLst>
</file>

<file path=ppt/tags/tag6.xml><?xml version="1.0" encoding="utf-8"?>
<p:tagLst xmlns:p="http://schemas.openxmlformats.org/presentationml/2006/main">
  <p:tag name="KSO_WM_UNIT_TABLE_BEAUTIFY" val="smartTable{fba9c6e0-e715-495e-a554-59292d666ed8}"/>
  <p:tag name="TABLE_ENDDRAG_ORIGIN_RECT" val="349*150"/>
  <p:tag name="TABLE_ENDDRAG_RECT" val="29*543*349*150"/>
  <p:tag name="KSO_WM_BEAUTIFY_FLAG" val=""/>
</p:tagLst>
</file>

<file path=ppt/tags/tag7.xml><?xml version="1.0" encoding="utf-8"?>
<p:tagLst xmlns:p="http://schemas.openxmlformats.org/presentationml/2006/main">
  <p:tag name="KSO_WM_UNIT_TABLE_BEAUTIFY" val="smartTable{f203f244-c54a-4877-b0be-7bdc0b016631}"/>
  <p:tag name="TABLE_ENDDRAG_ORIGIN_RECT" val="349*150"/>
  <p:tag name="TABLE_ENDDRAG_RECT" val="29*543*349*150"/>
  <p:tag name="KSO_WM_BEAUTIFY_FLAG" val=""/>
</p:tagLst>
</file>

<file path=ppt/tags/tag8.xml><?xml version="1.0" encoding="utf-8"?>
<p:tagLst xmlns:p="http://schemas.openxmlformats.org/presentationml/2006/main">
  <p:tag name="KSO_WM_UNIT_TABLE_BEAUTIFY" val="smartTable{c04a3381-732d-4092-a220-6b8ea8247510}"/>
  <p:tag name="TABLE_ENDDRAG_ORIGIN_RECT" val="349*150"/>
  <p:tag name="TABLE_ENDDRAG_RECT" val="29*543*349*150"/>
  <p:tag name="KSO_WM_BEAUTIFY_FLAG" val=""/>
</p:tagLst>
</file>

<file path=ppt/tags/tag9.xml><?xml version="1.0" encoding="utf-8"?>
<p:tagLst xmlns:p="http://schemas.openxmlformats.org/presentationml/2006/main">
  <p:tag name="KSO_WM_UNIT_TABLE_BEAUTIFY" val="smartTable{5a03d12f-f68c-4686-b5f3-899f53c86307}"/>
  <p:tag name="TABLE_ENDDRAG_ORIGIN_RECT" val="349*150"/>
  <p:tag name="TABLE_ENDDRAG_RECT" val="29*543*349*150"/>
  <p:tag name="KSO_WM_BEAUTIFY_FLAG" val=""/>
</p:tagLst>
</file>

<file path=ppt/tags/tag10.xml><?xml version="1.0" encoding="utf-8"?>
<p:tagLst xmlns:p="http://schemas.openxmlformats.org/presentationml/2006/main">
  <p:tag name="KSO_WM_UNIT_TABLE_BEAUTIFY" val="smartTable{ce97090f-2d12-451d-9fa8-48938f6480d2}"/>
  <p:tag name="TABLE_ENDDRAG_ORIGIN_RECT" val="349*150"/>
  <p:tag name="TABLE_ENDDRAG_RECT" val="29*543*349*150"/>
  <p:tag name="KSO_WM_BEAUTIFY_FLAG" val=""/>
</p:tagLst>
</file>

<file path=ppt/tags/tag11.xml><?xml version="1.0" encoding="utf-8"?>
<p:tagLst xmlns:p="http://schemas.openxmlformats.org/presentationml/2006/main">
  <p:tag name="KSO_WM_UNIT_TABLE_BEAUTIFY" val="smartTable{33f126b4-e82a-4029-90df-4afb845b1548}"/>
  <p:tag name="TABLE_ENDDRAG_ORIGIN_RECT" val="349*150"/>
  <p:tag name="TABLE_ENDDRAG_RECT" val="29*543*349*150"/>
  <p:tag name="KSO_WM_BEAUTIFY_FLAG" val=""/>
</p:tagLst>
</file>

<file path=ppt/tags/tag12.xml><?xml version="1.0" encoding="utf-8"?>
<p:tagLst xmlns:p="http://schemas.openxmlformats.org/presentationml/2006/main">
  <p:tag name="KSO_WM_UNIT_TABLE_BEAUTIFY" val="smartTable{ca812b6a-7a72-45d8-9a01-909a31e9c1bd}"/>
  <p:tag name="TABLE_ENDDRAG_ORIGIN_RECT" val="349*150"/>
  <p:tag name="TABLE_ENDDRAG_RECT" val="29*543*349*150"/>
  <p:tag name="KSO_WM_BEAUTIFY_FLAG" val=""/>
</p:tagLst>
</file>

<file path=ppt/tags/tag13.xml><?xml version="1.0" encoding="utf-8"?>
<p:tagLst xmlns:p="http://schemas.openxmlformats.org/presentationml/2006/main">
  <p:tag name="KSO_WM_UNIT_TABLE_BEAUTIFY" val="smartTable{c2dd8567-2726-47ac-aa91-c08128884ede}"/>
  <p:tag name="TABLE_ENDDRAG_ORIGIN_RECT" val="349*150"/>
  <p:tag name="TABLE_ENDDRAG_RECT" val="29*543*349*150"/>
  <p:tag name="KSO_WM_BEAUTIFY_FLAG" val=""/>
</p:tagLst>
</file>

<file path=ppt/tags/tag14.xml><?xml version="1.0" encoding="utf-8"?>
<p:tagLst xmlns:p="http://schemas.openxmlformats.org/presentationml/2006/main">
  <p:tag name="KSO_WPP_MARK_KEY" val="f0e48a33-d7b1-4d2c-84ff-7b32dd322aea"/>
  <p:tag name="COMMONDATA" val="eyJoZGlkIjoiNTc1ZThmMjcyMTc4NDg0YjIyMzQ3YThlOTllYzBhYz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vert="horz" wrap="square" lIns="0" tIns="0" rIns="0" bIns="0"/>
      <a:lstStyle>
        <a:defPPr algn="l" rtl="0" eaLnBrk="0">
          <a:lnSpc>
            <a:spcPct val="11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</a:defRPr>
        </a:defPPr>
      </a:lstStyle>
    </a:spDef>
    <a:txDef>
      <a:spPr>
        <a:noFill/>
      </a:spPr>
      <a:bodyPr wrap="square" rtlCol="0">
        <a:noAutofit/>
      </a:bodyPr>
      <a:lstStyle>
        <a:defPPr algn="l" rtl="0" eaLnBrk="0">
          <a:lnSpc>
            <a:spcPct val="12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WPS 演示</Application>
  <PresentationFormat>自定义</PresentationFormat>
  <Paragraphs>333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黑体</vt:lpstr>
      <vt:lpstr>思源黑体 CN Heavy</vt:lpstr>
      <vt:lpstr>Bai Jamjuree SemiBold</vt:lpstr>
      <vt:lpstr>思源黑体 CN Medium</vt:lpstr>
      <vt:lpstr>Bai Jamjuree Medium</vt:lpstr>
      <vt:lpstr>思源黑体 CN Normal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sijxs</cp:lastModifiedBy>
  <cp:revision>359</cp:revision>
  <dcterms:created xsi:type="dcterms:W3CDTF">2023-06-05T06:07:00Z</dcterms:created>
  <dcterms:modified xsi:type="dcterms:W3CDTF">2026-10-19T06:38:34Z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2023-06-15T05:58:16Z</vt:filetime>
  </property>
  <property fmtid="{D5CDD505-2E9C-101B-9397-08002B2CF9AE}" pid="4" name="ICV">
    <vt:lpwstr>AB48EAB9F7694DBC80A76F4A0022D9DA_13</vt:lpwstr>
  </property>
  <property fmtid="{D5CDD505-2E9C-101B-9397-08002B2CF9AE}" pid="5" name="KSOProductBuildVer">
    <vt:lpwstr>2052-12.1.0.28505</vt:lpwstr>
  </property>
</Properties>
</file>