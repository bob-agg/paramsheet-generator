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395" r:id="rId2"/>
    <p:sldId id="369" r:id="rId3"/>
    <p:sldId id="403" r:id="rId4"/>
    <p:sldId id="402" r:id="rId5"/>
  </p:sldIdLst>
  <p:sldSz cx="7559675" cy="10693400"/>
  <p:notesSz cx="6858000" cy="9144000"/>
  <p:embeddedFontLst>
    <p:embeddedFont>
      <p:font typeface="Bai Jamjuree Medium" panose="00000600000000000000" pitchFamily="2" charset="-34"/>
      <p:regular r:id="rId7"/>
      <p:italic r:id="rId8"/>
    </p:embeddedFont>
    <p:embeddedFont>
      <p:font typeface="Bai Jamjuree SemiBold" panose="00000700000000000000" pitchFamily="2" charset="-34"/>
      <p:bold r:id="rId9"/>
      <p:boldItalic r:id="rId10"/>
    </p:embeddedFont>
  </p:embeddedFontLst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88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pos="4564" userDrawn="1">
          <p15:clr>
            <a:srgbClr val="A4A3A4"/>
          </p15:clr>
        </p15:guide>
        <p15:guide id="4" orient="horz" pos="690" userDrawn="1">
          <p15:clr>
            <a:srgbClr val="A4A3A4"/>
          </p15:clr>
        </p15:guide>
        <p15:guide id="5" pos="2308" userDrawn="1">
          <p15:clr>
            <a:srgbClr val="A4A3A4"/>
          </p15:clr>
        </p15:guide>
        <p15:guide id="6" pos="2432" userDrawn="1">
          <p15:clr>
            <a:srgbClr val="A4A3A4"/>
          </p15:clr>
        </p15:guide>
        <p15:guide id="7" orient="horz" pos="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51545D"/>
    <a:srgbClr val="464B52"/>
    <a:srgbClr val="DCDDDD"/>
    <a:srgbClr val="888888"/>
    <a:srgbClr val="8A8A89"/>
    <a:srgbClr val="DBDDDC"/>
    <a:srgbClr val="FFFFFF"/>
    <a:srgbClr val="8B8A8A"/>
    <a:srgbClr val="EE1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>
        <p:scale>
          <a:sx n="100" d="100"/>
          <a:sy n="100" d="100"/>
        </p:scale>
        <p:origin x="2190" y="72"/>
      </p:cViewPr>
      <p:guideLst>
        <p:guide orient="horz" pos="6588"/>
        <p:guide pos="217"/>
        <p:guide pos="4564"/>
        <p:guide orient="horz" pos="690"/>
        <p:guide pos="2308"/>
        <p:guide pos="2432"/>
        <p:guide orient="horz" pos="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144" y="1143000"/>
            <a:ext cx="218171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82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4959" y="1750055"/>
            <a:ext cx="5669756" cy="3722888"/>
          </a:xfrm>
        </p:spPr>
        <p:txBody>
          <a:bodyPr anchor="b"/>
          <a:lstStyle>
            <a:lvl1pPr algn="ctr">
              <a:defRPr sz="364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4959" y="5616511"/>
            <a:ext cx="5669756" cy="2581762"/>
          </a:xfrm>
        </p:spPr>
        <p:txBody>
          <a:bodyPr/>
          <a:lstStyle>
            <a:lvl1pPr marL="0" indent="0" algn="ctr">
              <a:buNone/>
              <a:defRPr sz="1455"/>
            </a:lvl1pPr>
            <a:lvl2pPr marL="277495" indent="0" algn="ctr">
              <a:buNone/>
              <a:defRPr sz="1215"/>
            </a:lvl2pPr>
            <a:lvl3pPr marL="554990" indent="0" algn="ctr">
              <a:buNone/>
              <a:defRPr sz="1095"/>
            </a:lvl3pPr>
            <a:lvl4pPr marL="833120" indent="0" algn="ctr">
              <a:buNone/>
              <a:defRPr sz="970"/>
            </a:lvl4pPr>
            <a:lvl5pPr marL="1110615" indent="0" algn="ctr">
              <a:buNone/>
              <a:defRPr sz="970"/>
            </a:lvl5pPr>
            <a:lvl6pPr marL="1388110" indent="0" algn="ctr">
              <a:buNone/>
              <a:defRPr sz="970"/>
            </a:lvl6pPr>
            <a:lvl7pPr marL="1665605" indent="0" algn="ctr">
              <a:buNone/>
              <a:defRPr sz="970"/>
            </a:lvl7pPr>
            <a:lvl8pPr marL="1943100" indent="0" algn="ctr">
              <a:buNone/>
              <a:defRPr sz="970"/>
            </a:lvl8pPr>
            <a:lvl9pPr marL="2221230" indent="0" algn="ctr">
              <a:buNone/>
              <a:defRPr sz="97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3.png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tags" Target="../tags/tag5.xml"/><Relationship Id="rId9" Type="http://schemas.openxmlformats.org/officeDocument/2006/relationships/image" Target="../media/image1.jpg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10.jpg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12.png"/><Relationship Id="rId3" Type="http://schemas.openxmlformats.org/officeDocument/2006/relationships/tags" Target="../tags/tag19.xml"/><Relationship Id="rId21" Type="http://schemas.openxmlformats.org/officeDocument/2006/relationships/image" Target="../media/image15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11.png"/><Relationship Id="rId25" Type="http://schemas.openxmlformats.org/officeDocument/2006/relationships/image" Target="../media/image19.jpg"/><Relationship Id="rId2" Type="http://schemas.openxmlformats.org/officeDocument/2006/relationships/tags" Target="../tags/tag18.xml"/><Relationship Id="rId16" Type="http://schemas.openxmlformats.org/officeDocument/2006/relationships/image" Target="../media/image10.jpg"/><Relationship Id="rId20" Type="http://schemas.openxmlformats.org/officeDocument/2006/relationships/image" Target="../media/image14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18.png"/><Relationship Id="rId5" Type="http://schemas.openxmlformats.org/officeDocument/2006/relationships/tags" Target="../tags/tag21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17.png"/><Relationship Id="rId10" Type="http://schemas.openxmlformats.org/officeDocument/2006/relationships/tags" Target="../tags/tag26.xml"/><Relationship Id="rId19" Type="http://schemas.openxmlformats.org/officeDocument/2006/relationships/image" Target="../media/image13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未标题-1_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865" y="8886716"/>
            <a:ext cx="1759795" cy="53919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 t="2316"/>
          <a:stretch>
            <a:fillRect/>
          </a:stretch>
        </p:blipFill>
        <p:spPr>
          <a:xfrm>
            <a:off x="395605" y="1369667"/>
            <a:ext cx="3032760" cy="221869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779837" y="1511272"/>
            <a:ext cx="3248660" cy="1993900"/>
          </a:xfrm>
          <a:prstGeom prst="rect">
            <a:avLst/>
          </a:prstGeom>
        </p:spPr>
      </p:pic>
      <p:graphicFrame>
        <p:nvGraphicFramePr>
          <p:cNvPr id="26" name="内容占位符 5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71295219"/>
              </p:ext>
            </p:extLst>
          </p:nvPr>
        </p:nvGraphicFramePr>
        <p:xfrm>
          <a:off x="3851837" y="4338700"/>
          <a:ext cx="3096000" cy="166754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8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211">
                <a:tc>
                  <a:txBody>
                    <a:bodyPr/>
                    <a:lstStyle/>
                    <a:p>
                      <a:pPr lvl="0" indent="0" algn="l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</a:rPr>
                        <a:t>ITEMS</a:t>
                      </a:r>
                      <a:endParaRPr lang="en-US" altLang="zh-CN" sz="15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PRP</a:t>
                      </a: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EPS</a:t>
                      </a:r>
                      <a:r>
                        <a:rPr lang="en-US" sz="10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 </a:t>
                      </a: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13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Power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450</a:t>
                      </a: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kVA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500</a:t>
                      </a: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kVA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Power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360</a:t>
                      </a: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kW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400</a:t>
                      </a: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kW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Frequency / Phase / Power factor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50Hz / 3P / PF0.8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Standard voltage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400/230V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Available voltage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380/220V · 415/240V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35719" y="580639"/>
            <a:ext cx="3138674" cy="2961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eaLnBrk="0"/>
            <a:r>
              <a:rPr lang="en-US" altLang="zh-CN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Industrial Range Powered By Cummins</a:t>
            </a:r>
            <a:endParaRPr lang="zh-CN" altLang="en-US" sz="900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39" name="内容占位符 5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22890262"/>
              </p:ext>
            </p:extLst>
          </p:nvPr>
        </p:nvGraphicFramePr>
        <p:xfrm>
          <a:off x="3851837" y="7007519"/>
          <a:ext cx="3096001" cy="28757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197">
                <a:tc gridSpan="3">
                  <a:txBody>
                    <a:bodyPr/>
                    <a:lstStyle/>
                    <a:p>
                      <a:pPr lvl="0" indent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</a:rPr>
                        <a:t>PERFORMANCE DATA</a:t>
                      </a: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022">
                <a:tc gridSpan="2"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  <a:sym typeface="+mn-ea"/>
                        </a:rPr>
                        <a:t>    Engine brand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AGG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34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  <a:sym typeface="+mn-ea"/>
                        </a:rPr>
                        <a:t> Engine </a:t>
                      </a: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model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AS12800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Fuel</a:t>
                      </a:r>
                      <a:endParaRPr lang="en-US" sz="8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Diesel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Aspiration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Turbo &amp; intercooling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Cooling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Water-cooled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Governor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ECU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Cyl arrangement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6L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510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Application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Prime &amp; Standby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Fuel</a:t>
                      </a:r>
                      <a:r>
                        <a:rPr lang="en-US" altLang="zh-CN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consumption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ESP(L/H)</a:t>
                      </a: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PRP(L/H)</a:t>
                      </a: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75% PRP(L/H)</a:t>
                      </a: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50% PRP(L/H)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102.7</a:t>
                      </a: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99.0</a:t>
                      </a: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72.0</a:t>
                      </a: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48.0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45428" y="4250489"/>
            <a:ext cx="3168233" cy="1974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Standards : 2006/42/EC Machinery safety, 2006/95/EC Low voltage, EN 60204-1 : 2006+A1 : 2009, EN ISO 12100 : 2010, EN ISO 8528-13: 2016, ENISO 13849-1 :  2015, EN 60204-1 : 2018</a:t>
            </a: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PRP: Prime power is available for an unlimited number of annual operating hours in variable load applications , in accordance with ISO 8528-1.</a:t>
            </a: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ESP : The standby power rating is applicable for suppling emergency power in variable load applications in accordance with ISO 8528-1.overload is not allowed.</a:t>
            </a: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Conditions : According to the standard, the nominal power assigned by the </a:t>
            </a:r>
            <a:r>
              <a:rPr lang="en-US" sz="800" kern="700" spc="-4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is given for 25</a:t>
            </a:r>
            <a:r>
              <a:rPr lang="en-US" altLang="zh-CN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°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 air inlet temperature, of a barometric pressure of 100 </a:t>
            </a:r>
            <a:r>
              <a:rPr lang="en-US" sz="800" kern="700" spc="-4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kPA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(100 m A.S.L), and 30 % relative humidity.</a:t>
            </a:r>
            <a:endParaRPr sz="800" kern="700" spc="-4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17660" y="3928209"/>
            <a:ext cx="966990" cy="2277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5428" y="9434579"/>
            <a:ext cx="3262409" cy="5334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NOTE：Weights and dimensions based on standard products. According to 2000/14/CE , sound data is provided at 7m for 75% prime power. For actual </a:t>
            </a:r>
            <a:r>
              <a:rPr lang="en-US" altLang="zh-CN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</a:t>
            </a: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nstallation, </a:t>
            </a:r>
            <a:r>
              <a:rPr lang="en-US" altLang="zh-CN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please </a:t>
            </a: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contact the manufacturer. </a:t>
            </a:r>
          </a:p>
        </p:txBody>
      </p:sp>
      <p:graphicFrame>
        <p:nvGraphicFramePr>
          <p:cNvPr id="27" name="内容占位符 5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88318991"/>
              </p:ext>
            </p:extLst>
          </p:nvPr>
        </p:nvGraphicFramePr>
        <p:xfrm>
          <a:off x="486363" y="7014716"/>
          <a:ext cx="3055297" cy="158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1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912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8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  <a:sym typeface="+mn-ea"/>
                        </a:rPr>
                        <a:t>OPEN</a:t>
                      </a: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  <a:sym typeface="+mn-ea"/>
                        </a:rPr>
                        <a:t>SILENT</a:t>
                      </a: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67">
                <a:tc>
                  <a:txBody>
                    <a:bodyPr/>
                    <a:lstStyle/>
                    <a:p>
                      <a:pPr lvl="0" indent="0" algn="l" fontAlgn="b">
                        <a:spcBef>
                          <a:spcPts val="3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800" b="0" kern="120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631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sz="800" kern="1200" spc="-50" baseline="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631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700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700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259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6570700"/>
            <a:ext cx="2520000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GENERAL INSTALLATION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363" y="7232467"/>
            <a:ext cx="1203157" cy="9790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Dimension(L*W*H) (mm)</a:t>
            </a:r>
          </a:p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Weight(kg)</a:t>
            </a:r>
          </a:p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Fuel tank(L)</a:t>
            </a:r>
          </a:p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Sound pressure level </a:t>
            </a:r>
            <a:endParaRPr lang="zh-CN" altLang="en-US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363" y="7016467"/>
            <a:ext cx="1080000" cy="216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vl="0" eaLnBrk="0">
              <a:lnSpc>
                <a:spcPct val="120000"/>
              </a:lnSpc>
            </a:pPr>
            <a:r>
              <a:rPr lang="en-US" altLang="zh-CN" sz="1000" b="1" dirty="0">
                <a:solidFill>
                  <a:srgbClr val="464B52"/>
                </a:solidFill>
                <a:latin typeface="Bai Jamjuree SemiBold" panose="00000700000000000000" pitchFamily="2" charset="-34"/>
                <a:cs typeface="Bai Jamjuree SemiBold" panose="00000700000000000000" pitchFamily="2" charset="-34"/>
              </a:rPr>
              <a:t>ITEMS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86362" y="8181070"/>
            <a:ext cx="120315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load&amp;1m       dB(A)</a:t>
            </a:r>
          </a:p>
          <a:p>
            <a:pPr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load&amp;7m      dB(A)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749658" y="8168922"/>
            <a:ext cx="63442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——</a:t>
            </a:r>
          </a:p>
          <a:p>
            <a:pPr algn="ctr"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——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779837" y="3834700"/>
            <a:ext cx="3024001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GENERATOR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2411" y="6162903"/>
            <a:ext cx="270351" cy="26379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67335" y="6182609"/>
            <a:ext cx="648000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Water-cooled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7837" y="6162902"/>
            <a:ext cx="261244" cy="263797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012761" y="6189161"/>
            <a:ext cx="639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Three Phase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76761" y="6189493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50Hz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07293" y="6171603"/>
            <a:ext cx="246555" cy="2440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7305" y="6181021"/>
            <a:ext cx="239832" cy="238243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596760" y="6192371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Diesel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5719" y="106258"/>
            <a:ext cx="1844926" cy="6252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AS500E5</a:t>
            </a:r>
            <a:endParaRPr lang="zh-CN" altLang="en-US" sz="3000" b="1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内容占位符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8428649"/>
              </p:ext>
            </p:extLst>
          </p:nvPr>
        </p:nvGraphicFramePr>
        <p:xfrm>
          <a:off x="467837" y="1719732"/>
          <a:ext cx="3146963" cy="23889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58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brand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AGG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932204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model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AS12800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1201147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Displacement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12.8L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3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No. of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cyl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/ arrangement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6L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Bore x stroke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130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x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161mm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Compression ratio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17:01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speed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1500rpm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4-stroke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diesel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" name="内容占位符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53679413"/>
              </p:ext>
            </p:extLst>
          </p:nvPr>
        </p:nvGraphicFramePr>
        <p:xfrm>
          <a:off x="467837" y="4338700"/>
          <a:ext cx="3146964" cy="12838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0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108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9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stack gas temperature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en-US" alt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)</a:t>
                      </a:r>
                      <a:endParaRPr lang="en-US" alt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580°C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05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gas flow rate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)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36.8m³/min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9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system backpressure</a:t>
                      </a:r>
                      <a:r>
                        <a:rPr lang="en-US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(maximum allowable)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15 </a:t>
                      </a:r>
                      <a:r>
                        <a:rPr lang="en-US" sz="800" b="0" kern="1200" spc="-2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kPa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内容占位符 5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85327462"/>
              </p:ext>
            </p:extLst>
          </p:nvPr>
        </p:nvGraphicFramePr>
        <p:xfrm>
          <a:off x="469324" y="5992880"/>
          <a:ext cx="3152705" cy="8658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0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226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FUEL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6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Maximum restriction at lift pump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13.6kPa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fuel flow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30L/H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内容占位符 5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97511020"/>
              </p:ext>
            </p:extLst>
          </p:nvPr>
        </p:nvGraphicFramePr>
        <p:xfrm>
          <a:off x="3921845" y="1714706"/>
          <a:ext cx="3097992" cy="11408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56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22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COOLING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6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Radiator air flow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300m³/min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Total oil capacity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20L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9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Total coolant capacity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40L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314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ENGINE 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2" name="内容占位符 5">
            <a:extLst>
              <a:ext uri="{FF2B5EF4-FFF2-40B4-BE49-F238E27FC236}">
                <a16:creationId xmlns:a16="http://schemas.microsoft.com/office/drawing/2014/main" id="{927FB43E-4B76-7F5E-428C-4419D81BE54A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50684894"/>
              </p:ext>
            </p:extLst>
          </p:nvPr>
        </p:nvGraphicFramePr>
        <p:xfrm>
          <a:off x="3921844" y="3699608"/>
          <a:ext cx="3097993" cy="117190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201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ELECTRICAL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74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Starter motor rated voltage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DC24V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6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Start battery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2x60Ah(580CCA)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0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Battery charging alternator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DC24V/40A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888D4B32-EC0E-C313-FDCF-B04FE55C4BC3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45434398"/>
              </p:ext>
            </p:extLst>
          </p:nvPr>
        </p:nvGraphicFramePr>
        <p:xfrm>
          <a:off x="3921844" y="5445363"/>
          <a:ext cx="3097993" cy="14133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18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INLET AIR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47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Air filter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Dry type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3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combustion air Intake restriction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6.0kPa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5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Combustion air inlet flow rate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45 L/S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5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allowable combustion air inlet temp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50°C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内容占位符 5">
            <a:extLst>
              <a:ext uri="{FF2B5EF4-FFF2-40B4-BE49-F238E27FC236}">
                <a16:creationId xmlns:a16="http://schemas.microsoft.com/office/drawing/2014/main" id="{8D9825AC-D78F-3FAA-043A-B7DD067E142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437793255"/>
              </p:ext>
            </p:extLst>
          </p:nvPr>
        </p:nvGraphicFramePr>
        <p:xfrm>
          <a:off x="467837" y="7876840"/>
          <a:ext cx="3245326" cy="18618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chemeClr val="bg1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Insulation &amp; temperature rise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Class H/H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Excitation 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Self-excited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45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leads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connections (standard)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pitch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Two thirds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Number of phase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Three</a:t>
                      </a:r>
                      <a:r>
                        <a:rPr lang="en-US" altLang="en-US" sz="800" b="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phase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213BEF73-52FB-F11C-3A30-6FB8F0C81469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369847213"/>
              </p:ext>
            </p:extLst>
          </p:nvPr>
        </p:nvGraphicFramePr>
        <p:xfrm>
          <a:off x="3723344" y="7876840"/>
          <a:ext cx="3277711" cy="18618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chemeClr val="bg1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Brushless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No. of bearings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Single bearing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45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Coupling system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Flexible disc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Maximum over speed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2250 RPM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Coating 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Vacuum impregnation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 rating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IP23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90C195F-EF9C-DFD5-E573-EFD9999FCCFB}"/>
              </a:ext>
            </a:extLst>
          </p:cNvPr>
          <p:cNvSpPr txBox="1"/>
          <p:nvPr/>
        </p:nvSpPr>
        <p:spPr>
          <a:xfrm>
            <a:off x="395837" y="7417671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ALTERNATOR 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837" y="1458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b="1" dirty="0">
                <a:solidFill>
                  <a:srgbClr val="51545D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</a:rPr>
              <a:t>CONTROL SYSTEM</a:t>
            </a:r>
            <a:endParaRPr lang="zh-CN" altLang="en-US" sz="1600" b="1" dirty="0">
              <a:solidFill>
                <a:srgbClr val="51545D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445428" y="1859945"/>
            <a:ext cx="1155603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Key features</a:t>
            </a:r>
            <a:endParaRPr sz="80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2070" y="5233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39837" y="2322700"/>
            <a:ext cx="1800000" cy="1152000"/>
            <a:chOff x="539837" y="2322700"/>
            <a:chExt cx="1800000" cy="1152000"/>
          </a:xfrm>
        </p:grpSpPr>
        <p:sp>
          <p:nvSpPr>
            <p:cNvPr id="16" name="圆角矩形 15"/>
            <p:cNvSpPr/>
            <p:nvPr/>
          </p:nvSpPr>
          <p:spPr>
            <a:xfrm>
              <a:off x="539837" y="2322700"/>
              <a:ext cx="1800000" cy="1152000"/>
            </a:xfrm>
            <a:prstGeom prst="roundRect">
              <a:avLst>
                <a:gd name="adj" fmla="val 7296"/>
              </a:avLst>
            </a:prstGeom>
            <a:solidFill>
              <a:srgbClr val="F0F0F0"/>
            </a:solidFill>
          </p:spPr>
          <p:txBody>
            <a:bodyPr vert="horz" wrap="square" lIns="0" tIns="0" rIns="0" bIns="0" rtlCol="0" anchor="ctr"/>
            <a:lstStyle/>
            <a:p>
              <a:pPr algn="l" rtl="0" eaLnBrk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647837" y="2394700"/>
              <a:ext cx="1584000" cy="5553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 eaLnBrk="0">
                <a:lnSpc>
                  <a:spcPct val="120000"/>
                </a:lnSpc>
              </a:pPr>
              <a:r>
                <a:rPr lang="en-US" sz="850" kern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i Jamjuree Medium" panose="00000600000000000000" pitchFamily="2" charset="-34"/>
                  <a:ea typeface="黑体" panose="02010609060101010101" charset="-122"/>
                  <a:cs typeface="Bai Jamjuree Medium" panose="00000600000000000000" pitchFamily="2" charset="-34"/>
                  <a:sym typeface="+mn-ea"/>
                </a:rPr>
                <a:t>Single generator set </a:t>
              </a:r>
              <a:r>
                <a:rPr lang="en-US" sz="850" kern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Bai Jamjuree Medium" panose="00000600000000000000" pitchFamily="2" charset="-34"/>
                  <a:ea typeface="黑体" panose="02010609060101010101" charset="-122"/>
                  <a:cs typeface="Bai Jamjuree Medium" panose="00000600000000000000" pitchFamily="2" charset="-34"/>
                  <a:sym typeface="+mn-ea"/>
                </a:rPr>
                <a:t>controllercan</a:t>
              </a:r>
              <a:r>
                <a:rPr lang="en-US" sz="850" kern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i Jamjuree Medium" panose="00000600000000000000" pitchFamily="2" charset="-34"/>
                  <a:ea typeface="黑体" panose="02010609060101010101" charset="-122"/>
                  <a:cs typeface="Bai Jamjuree Medium" panose="00000600000000000000" pitchFamily="2" charset="-34"/>
                  <a:sym typeface="+mn-ea"/>
                </a:rPr>
                <a:t> be used in prime or standby scenarios</a:t>
              </a:r>
              <a:endParaRPr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1837" y="2970700"/>
              <a:ext cx="463297" cy="390145"/>
            </a:xfrm>
            <a:prstGeom prst="rect">
              <a:avLst/>
            </a:prstGeom>
          </p:spPr>
        </p:pic>
      </p:grpSp>
      <p:sp>
        <p:nvSpPr>
          <p:cNvPr id="19" name="圆角矩形 18"/>
          <p:cNvSpPr/>
          <p:nvPr/>
        </p:nvSpPr>
        <p:spPr>
          <a:xfrm>
            <a:off x="269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2807837" y="2394700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Manual and remote start, MRS application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750" y="2943268"/>
            <a:ext cx="545593" cy="417577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485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4967837" y="2394700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fr-FR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Auto mains failure, AMF application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37" y="2950093"/>
            <a:ext cx="542545" cy="417577"/>
          </a:xfrm>
          <a:prstGeom prst="rect">
            <a:avLst/>
          </a:prstGeom>
        </p:spPr>
      </p:pic>
      <p:sp>
        <p:nvSpPr>
          <p:cNvPr id="29" name="圆角矩形 28"/>
          <p:cNvSpPr/>
          <p:nvPr/>
        </p:nvSpPr>
        <p:spPr>
          <a:xfrm>
            <a:off x="53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4"/>
            </p:custDataLst>
          </p:nvPr>
        </p:nvSpPr>
        <p:spPr>
          <a:xfrm>
            <a:off x="647837" y="3853812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power / frequency / factor / voltage / current detection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69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807837" y="3853812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Engine/alternator/generator protections, emergency stop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85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4967837" y="3853812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Event log / running hours history/maintenance warning, LCD screen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41287" y="520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649287" y="5274700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User access management,</a:t>
            </a:r>
          </a:p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software and tools are easy</a:t>
            </a:r>
          </a:p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to use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699837" y="5201675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2735837" y="5273675"/>
            <a:ext cx="1692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Input or output configuration, USB communication port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31" y="4393964"/>
            <a:ext cx="551689" cy="448057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747" y="4336435"/>
            <a:ext cx="509017" cy="48463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914" y="4443683"/>
            <a:ext cx="652273" cy="393193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536" y="5734818"/>
            <a:ext cx="457201" cy="463297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957" y="5753499"/>
            <a:ext cx="423673" cy="457201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37" y="6570700"/>
            <a:ext cx="5663664" cy="3527449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9"/>
            </p:custDataLst>
          </p:nvPr>
        </p:nvSpPr>
        <p:spPr>
          <a:xfrm>
            <a:off x="1110870" y="8370700"/>
            <a:ext cx="865802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MAINS</a:t>
            </a:r>
          </a:p>
        </p:txBody>
      </p:sp>
      <p:sp>
        <p:nvSpPr>
          <p:cNvPr id="50" name="文本框 49"/>
          <p:cNvSpPr txBox="1"/>
          <p:nvPr>
            <p:custDataLst>
              <p:tags r:id="rId10"/>
            </p:custDataLst>
          </p:nvPr>
        </p:nvSpPr>
        <p:spPr>
          <a:xfrm>
            <a:off x="1719819" y="9648111"/>
            <a:ext cx="865802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</a:p>
        </p:txBody>
      </p:sp>
      <p:sp>
        <p:nvSpPr>
          <p:cNvPr id="51" name="文本框 50"/>
          <p:cNvSpPr txBox="1"/>
          <p:nvPr>
            <p:custDataLst>
              <p:tags r:id="rId11"/>
            </p:custDataLst>
          </p:nvPr>
        </p:nvSpPr>
        <p:spPr>
          <a:xfrm>
            <a:off x="3136419" y="8801690"/>
            <a:ext cx="1003418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CONTROLLER</a:t>
            </a:r>
          </a:p>
        </p:txBody>
      </p:sp>
      <p:sp>
        <p:nvSpPr>
          <p:cNvPr id="52" name="文本框 51"/>
          <p:cNvSpPr txBox="1"/>
          <p:nvPr>
            <p:custDataLst>
              <p:tags r:id="rId12"/>
            </p:custDataLst>
          </p:nvPr>
        </p:nvSpPr>
        <p:spPr>
          <a:xfrm>
            <a:off x="5323965" y="9286077"/>
            <a:ext cx="1252873" cy="4854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Remote control</a:t>
            </a:r>
          </a:p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and Cloud services</a:t>
            </a:r>
          </a:p>
        </p:txBody>
      </p:sp>
      <p:sp>
        <p:nvSpPr>
          <p:cNvPr id="53" name="文本框 52"/>
          <p:cNvSpPr txBox="1"/>
          <p:nvPr>
            <p:custDataLst>
              <p:tags r:id="rId13"/>
            </p:custDataLst>
          </p:nvPr>
        </p:nvSpPr>
        <p:spPr>
          <a:xfrm>
            <a:off x="5499141" y="8244619"/>
            <a:ext cx="1003418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319385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内容占位符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9000933"/>
              </p:ext>
            </p:extLst>
          </p:nvPr>
        </p:nvGraphicFramePr>
        <p:xfrm>
          <a:off x="467837" y="1863732"/>
          <a:ext cx="3168000" cy="2330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779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STANDARD  FEATURES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189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Diesel engine，50 degrees radiator, brushless alternator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Intelligent controller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Output circuit breaker (up to1250A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)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Maintenance-free start battery, battery charge, battery switch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Steel industrial silencer, exhaust bellows and elbows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Steel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chasis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and anti-vibration shock absorbers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Lifting and moving structure, expansion of oil and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coolant discharge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Moving parts protection, hot parts protection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Special toolbox, delivery attached documentation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9322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458700"/>
            <a:ext cx="273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  VERSION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5" name="内容占位符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3875555"/>
              </p:ext>
            </p:extLst>
          </p:nvPr>
        </p:nvGraphicFramePr>
        <p:xfrm>
          <a:off x="3851837" y="1867222"/>
          <a:ext cx="3096000" cy="585547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5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36">
                  <a:extLst>
                    <a:ext uri="{9D8B030D-6E8A-4147-A177-3AD203B41FA5}">
                      <a16:colId xmlns:a16="http://schemas.microsoft.com/office/drawing/2014/main" val="2488962130"/>
                    </a:ext>
                  </a:extLst>
                </a:gridCol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OPTIONAL   FEATURES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5699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Water jacket preheater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Oil Preheater, oil level maintainer, 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oil manual pump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Heavy air filtration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Residential silencer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Remote radiator, heat exchanger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9322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ALTERNATOR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PMG/AREP excitation system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Anti-condensation heater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Winding/bearing RTD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Double bearing structure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IP44 protection class</a:t>
                      </a: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905855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CONTROL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SYSTEM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Synchronizing panel, remote  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control panel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RS232/485, 4G &amp; GPS wireless,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ethernet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communication card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Additional digital/analog</a:t>
                      </a:r>
                      <a:r>
                        <a:rPr lang="en-US" sz="800" b="0" kern="120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input/output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Monitoring software, mobile APP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Ni-Cad batteries</a:t>
                      </a: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8669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GENERATING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SET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External fuel tank, automatic fuel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feeding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ATS / output / combining /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distribution cabinet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Load test cabinet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Mobile trailer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Customized design</a:t>
                      </a: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2090793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99" y="4338700"/>
            <a:ext cx="2923038" cy="43891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0e48a33-d7b1-4d2c-84ff-7b32dd322aea"/>
  <p:tag name="COMMONDATA" val="eyJoZGlkIjoiNTc1ZThmMjcyMTc4NDg0YjIyMzQ3YThlOTllYzBh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9bbabf3-6f09-4086-897c-a6b350cf9609}"/>
  <p:tag name="KSO_WM_BEAUTIFY_FLAG" val=""/>
  <p:tag name="TABLE_ENDDRAG_ORIGIN_RECT" val="533*170"/>
  <p:tag name="TABLE_ENDDRAG_RECT" val="29*305*533*17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e467ec9-fb3c-43e7-9fed-ffff4340bbee}"/>
  <p:tag name="KSO_WM_BEAUTIFY_FLAG" val=""/>
  <p:tag name="TABLE_ENDDRAG_ORIGIN_RECT" val="266*307"/>
  <p:tag name="TABLE_ENDDRAG_RECT" val="304*293*266*30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b70c436-e7e3-414b-8c11-232f7a184a58}"/>
  <p:tag name="TABLE_ENDDRAG_ORIGIN_RECT" val="349*150"/>
  <p:tag name="TABLE_ENDDRAG_RECT" val="29*543*349*150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47e24a5-a755-4561-bd45-52cdf12e4cdb}"/>
  <p:tag name="TABLE_ENDDRAG_ORIGIN_RECT" val="349*150"/>
  <p:tag name="TABLE_ENDDRAG_RECT" val="29*543*349*150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vert="horz" wrap="square" lIns="0" tIns="0" rIns="0" bIns="0"/>
      <a:lstStyle>
        <a:defPPr algn="l" rtl="0" eaLnBrk="0">
          <a:lnSpc>
            <a:spcPct val="11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</a:defRPr>
        </a:defPPr>
      </a:lstStyle>
    </a:spDef>
    <a:txDef>
      <a:spPr>
        <a:noFill/>
      </a:spPr>
      <a:bodyPr wrap="square" rtlCol="0">
        <a:noAutofit/>
      </a:bodyPr>
      <a:lstStyle>
        <a:defPPr algn="l" rtl="0" eaLnBrk="0">
          <a:lnSpc>
            <a:spcPct val="12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  <a:sym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859</Words>
  <Application>Microsoft Office PowerPoint</Application>
  <PresentationFormat>自定义</PresentationFormat>
  <Paragraphs>214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Bai Jamjuree SemiBold</vt:lpstr>
      <vt:lpstr>Bai Jamjuree Medium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赛辉 姚</cp:lastModifiedBy>
  <cp:revision>312</cp:revision>
  <dcterms:created xsi:type="dcterms:W3CDTF">2023-06-05T06:07:00Z</dcterms:created>
  <dcterms:modified xsi:type="dcterms:W3CDTF">2025-04-27T03:04:15Z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2023-06-14T13:58:16Z</vt:filetime>
  </property>
  <property fmtid="{D5CDD505-2E9C-101B-9397-08002B2CF9AE}" pid="4" name="ICV">
    <vt:lpwstr>83A9200C92AB44AEA78A85364E4677A1_13</vt:lpwstr>
  </property>
  <property fmtid="{D5CDD505-2E9C-101B-9397-08002B2CF9AE}" pid="5" name="KSOProductBuildVer">
    <vt:lpwstr>2052-12.1.0.15712</vt:lpwstr>
  </property>
</Properties>
</file>