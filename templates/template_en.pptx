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sldIdLst>
    <p:sldId id="395" r:id="rId3"/>
    <p:sldId id="369" r:id="rId4"/>
    <p:sldId id="406" r:id="rId5"/>
    <p:sldId id="405" r:id="rId6"/>
  </p:sldIdLst>
  <p:sldSz cx="7559675" cy="10693400"/>
  <p:notesSz cx="6858000" cy="9144000"/>
  <p:embeddedFontLst>
    <p:embeddedFont>
      <p:font typeface="黑体" panose="02010609060101010101" charset="-122"/>
      <p:regular r:id="rId12"/>
    </p:embeddedFont>
    <p:embeddedFont>
      <p:font typeface="Bai Jamjuree SemiBold" panose="00000700000000000000" pitchFamily="2" charset="-34"/>
      <p:bold r:id="rId13"/>
    </p:embeddedFont>
    <p:embeddedFont>
      <p:font typeface="Bai Jamjuree Medium" panose="00000600000000000000" pitchFamily="2" charset="-34"/>
      <p:regular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</p:embeddedFontLst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588" userDrawn="1">
          <p15:clr>
            <a:srgbClr val="A4A3A4"/>
          </p15:clr>
        </p15:guide>
        <p15:guide id="2" pos="217" userDrawn="1">
          <p15:clr>
            <a:srgbClr val="A4A3A4"/>
          </p15:clr>
        </p15:guide>
        <p15:guide id="3" pos="4564" userDrawn="1">
          <p15:clr>
            <a:srgbClr val="A4A3A4"/>
          </p15:clr>
        </p15:guide>
        <p15:guide id="4" orient="horz" pos="690" userDrawn="1">
          <p15:clr>
            <a:srgbClr val="A4A3A4"/>
          </p15:clr>
        </p15:guide>
        <p15:guide id="5" pos="2308" userDrawn="1">
          <p15:clr>
            <a:srgbClr val="A4A3A4"/>
          </p15:clr>
        </p15:guide>
        <p15:guide id="6" pos="2432" userDrawn="1">
          <p15:clr>
            <a:srgbClr val="A4A3A4"/>
          </p15:clr>
        </p15:guide>
        <p15:guide id="7" orient="horz" pos="8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0F0F0"/>
    <a:srgbClr val="51545D"/>
    <a:srgbClr val="464B52"/>
    <a:srgbClr val="DCDDDD"/>
    <a:srgbClr val="888888"/>
    <a:srgbClr val="8A8A89"/>
    <a:srgbClr val="DBDDDC"/>
    <a:srgbClr val="8B8A8A"/>
    <a:srgbClr val="EE1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howGuides="1">
      <p:cViewPr>
        <p:scale>
          <a:sx n="100" d="100"/>
          <a:sy n="100" d="100"/>
        </p:scale>
        <p:origin x="2190" y="72"/>
      </p:cViewPr>
      <p:guideLst>
        <p:guide orient="horz" pos="6588"/>
        <p:guide pos="217"/>
        <p:guide pos="4564"/>
        <p:guide orient="horz" pos="690"/>
        <p:guide pos="2308"/>
        <p:guide pos="2432"/>
        <p:guide orient="horz" pos="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6.xml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144" y="1143000"/>
            <a:ext cx="218171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44959" y="1750055"/>
            <a:ext cx="5669756" cy="3722888"/>
          </a:xfrm>
        </p:spPr>
        <p:txBody>
          <a:bodyPr anchor="b"/>
          <a:lstStyle>
            <a:lvl1pPr algn="ctr">
              <a:defRPr sz="364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44959" y="5616511"/>
            <a:ext cx="5669756" cy="2581762"/>
          </a:xfrm>
        </p:spPr>
        <p:txBody>
          <a:bodyPr/>
          <a:lstStyle>
            <a:lvl1pPr marL="0" indent="0" algn="ctr">
              <a:buNone/>
              <a:defRPr sz="1455"/>
            </a:lvl1pPr>
            <a:lvl2pPr marL="277495" indent="0" algn="ctr">
              <a:buNone/>
              <a:defRPr sz="1215"/>
            </a:lvl2pPr>
            <a:lvl3pPr marL="554990" indent="0" algn="ctr">
              <a:buNone/>
              <a:defRPr sz="1095"/>
            </a:lvl3pPr>
            <a:lvl4pPr marL="833120" indent="0" algn="ctr">
              <a:buNone/>
              <a:defRPr sz="970"/>
            </a:lvl4pPr>
            <a:lvl5pPr marL="1110615" indent="0" algn="ctr">
              <a:buNone/>
              <a:defRPr sz="970"/>
            </a:lvl5pPr>
            <a:lvl6pPr marL="1388110" indent="0" algn="ctr">
              <a:buNone/>
              <a:defRPr sz="970"/>
            </a:lvl6pPr>
            <a:lvl7pPr marL="1665605" indent="0" algn="ctr">
              <a:buNone/>
              <a:defRPr sz="970"/>
            </a:lvl7pPr>
            <a:lvl8pPr marL="1943100" indent="0" algn="ctr">
              <a:buNone/>
              <a:defRPr sz="970"/>
            </a:lvl8pPr>
            <a:lvl9pPr marL="2221230" indent="0" algn="ctr">
              <a:buNone/>
              <a:defRPr sz="97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tags" Target="../tags/tag2.xml"/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9.png"/><Relationship Id="rId15" Type="http://schemas.openxmlformats.org/officeDocument/2006/relationships/image" Target="../media/image8.png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tags" Target="../tags/tag7.xml"/><Relationship Id="rId11" Type="http://schemas.openxmlformats.org/officeDocument/2006/relationships/image" Target="../media/image5.png"/><Relationship Id="rId10" Type="http://schemas.openxmlformats.org/officeDocument/2006/relationships/tags" Target="../tags/tag6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未标题-1_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65" y="8886716"/>
            <a:ext cx="1759795" cy="539199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316"/>
          <a:stretch>
            <a:fillRect/>
          </a:stretch>
        </p:blipFill>
        <p:spPr>
          <a:xfrm>
            <a:off x="395605" y="1369667"/>
            <a:ext cx="3032760" cy="221869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779837" y="1511272"/>
            <a:ext cx="3248660" cy="1993900"/>
          </a:xfrm>
          <a:prstGeom prst="rect">
            <a:avLst/>
          </a:prstGeom>
        </p:spPr>
      </p:pic>
      <p:graphicFrame>
        <p:nvGraphicFramePr>
          <p:cNvPr id="26" name="内容占位符 5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3851837" y="4338700"/>
          <a:ext cx="3096000" cy="166754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88797"/>
                <a:gridCol w="716623"/>
                <a:gridCol w="590580"/>
              </a:tblGrid>
              <a:tr h="304211">
                <a:tc>
                  <a:txBody>
                    <a:bodyPr/>
                    <a:lstStyle/>
                    <a:p>
                      <a:pPr lvl="0" indent="0" algn="l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SemiBold" panose="00000700000000000000" pitchFamily="2" charset="-34"/>
                          <a:ea typeface="+mn-ea"/>
                          <a:cs typeface="Bai Jamjuree SemiBold" panose="00000700000000000000" pitchFamily="2" charset="-34"/>
                        </a:rPr>
                        <a:t>ITEMS</a:t>
                      </a:r>
                      <a:endParaRPr lang="en-US" altLang="zh-CN" sz="1500" b="1" kern="1200" dirty="0">
                        <a:solidFill>
                          <a:srgbClr val="464B52"/>
                        </a:solidFill>
                        <a:effectLst/>
                        <a:latin typeface="Bai Jamjuree SemiBold" panose="00000700000000000000" pitchFamily="2" charset="-34"/>
                        <a:ea typeface="+mn-ea"/>
                        <a:cs typeface="Bai Jamjuree SemiBold" panose="00000700000000000000" pitchFamily="2" charset="-34"/>
                      </a:endParaRPr>
                    </a:p>
                  </a:txBody>
                  <a:tcPr marL="180000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464B52"/>
                          </a:solidFill>
                          <a:latin typeface="Bai Jamjuree SemiBold" panose="00000700000000000000" pitchFamily="2" charset="-34"/>
                          <a:ea typeface="黑体" panose="02010609060101010101" charset="-122"/>
                          <a:cs typeface="Bai Jamjuree SemiBold" panose="00000700000000000000" pitchFamily="2" charset="-34"/>
                          <a:sym typeface="+mn-ea"/>
                        </a:rPr>
                        <a:t>PRP</a:t>
                      </a:r>
                      <a:endParaRPr lang="en-US" sz="1100" b="1" dirty="0">
                        <a:solidFill>
                          <a:srgbClr val="464B52"/>
                        </a:solidFill>
                        <a:latin typeface="Bai Jamjuree SemiBold" panose="00000700000000000000" pitchFamily="2" charset="-34"/>
                        <a:ea typeface="黑体" panose="02010609060101010101" charset="-122"/>
                        <a:cs typeface="Bai Jamjuree SemiBold" panose="00000700000000000000" pitchFamily="2" charset="-34"/>
                        <a:sym typeface="+mn-ea"/>
                      </a:endParaRPr>
                    </a:p>
                  </a:txBody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464B52"/>
                          </a:solidFill>
                          <a:latin typeface="Bai Jamjuree SemiBold" panose="00000700000000000000" pitchFamily="2" charset="-34"/>
                          <a:ea typeface="黑体" panose="02010609060101010101" charset="-122"/>
                          <a:cs typeface="Bai Jamjuree SemiBold" panose="00000700000000000000" pitchFamily="2" charset="-34"/>
                          <a:sym typeface="+mn-ea"/>
                        </a:rPr>
                        <a:t>EPS</a:t>
                      </a:r>
                      <a:r>
                        <a:rPr lang="en-US" sz="1000" b="1" dirty="0">
                          <a:solidFill>
                            <a:srgbClr val="464B52"/>
                          </a:solidFill>
                          <a:latin typeface="Bai Jamjuree SemiBold" panose="00000700000000000000" pitchFamily="2" charset="-34"/>
                          <a:ea typeface="黑体" panose="02010609060101010101" charset="-122"/>
                          <a:cs typeface="Bai Jamjuree SemiBold" panose="00000700000000000000" pitchFamily="2" charset="-34"/>
                          <a:sym typeface="+mn-ea"/>
                        </a:rPr>
                        <a:t> </a:t>
                      </a:r>
                      <a:endParaRPr lang="en-US" sz="1000" b="1" dirty="0">
                        <a:solidFill>
                          <a:srgbClr val="464B52"/>
                        </a:solidFill>
                        <a:latin typeface="Bai Jamjuree SemiBold" panose="00000700000000000000" pitchFamily="2" charset="-34"/>
                        <a:ea typeface="黑体" panose="02010609060101010101" charset="-122"/>
                        <a:cs typeface="Bai Jamjuree SemiBold" panose="00000700000000000000" pitchFamily="2" charset="-34"/>
                        <a:sym typeface="+mn-ea"/>
                      </a:endParaRPr>
                    </a:p>
                  </a:txBody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</a:tr>
              <a:tr h="281913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Power</a:t>
                      </a:r>
                      <a:endParaRPr 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0356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Power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0356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spc="-5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Frequency / Phase / Power factor</a:t>
                      </a:r>
                      <a:endParaRPr 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eaLnBrk="0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0356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Standard voltage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eaLnBrk="0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0356">
                <a:tc>
                  <a:txBody>
                    <a:bodyPr/>
                    <a:lstStyle/>
                    <a:p>
                      <a:pPr marL="0" lvl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Available voltage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eaLnBrk="0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38" name="文本框 37"/>
          <p:cNvSpPr txBox="1"/>
          <p:nvPr/>
        </p:nvSpPr>
        <p:spPr>
          <a:xfrm>
            <a:off x="535719" y="580639"/>
            <a:ext cx="3138674" cy="29617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eaLnBrk="0"/>
            <a:r>
              <a:rPr lang="en-US" altLang="zh-CN" sz="900" dirty="0">
                <a:solidFill>
                  <a:schemeClr val="bg1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Industrial Range Powered By </a:t>
            </a:r>
            <a:r>
              <a:rPr lang="en-US" altLang="en-US" sz="900" dirty="0">
                <a:solidFill>
                  <a:schemeClr val="bg1"/>
                </a:solidFill>
                <a:latin typeface="Bai Jamjuree Medium" panose="00000600000000000000" pitchFamily="2" charset="-34"/>
                <a:cs typeface="Bai Jamjuree Medium" panose="00000600000000000000" pitchFamily="2" charset="-34"/>
                <a:sym typeface="+mn-ea"/>
              </a:rPr>
              <a:t>12345</a:t>
            </a:r>
            <a:endParaRPr lang="en-US" altLang="en-US" sz="900" dirty="0">
              <a:solidFill>
                <a:schemeClr val="bg1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graphicFrame>
        <p:nvGraphicFramePr>
          <p:cNvPr id="39" name="内容占位符 5"/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3851837" y="7007519"/>
          <a:ext cx="3096001" cy="287578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80000"/>
                <a:gridCol w="936000"/>
                <a:gridCol w="1080001"/>
              </a:tblGrid>
              <a:tr h="295197">
                <a:tc gridSpan="3">
                  <a:txBody>
                    <a:bodyPr/>
                    <a:lstStyle/>
                    <a:p>
                      <a:pPr lvl="0" indent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SemiBold" panose="00000700000000000000" pitchFamily="2" charset="-34"/>
                          <a:ea typeface="+mn-ea"/>
                          <a:cs typeface="Bai Jamjuree SemiBold" panose="00000700000000000000" pitchFamily="2" charset="-34"/>
                        </a:rPr>
                        <a:t>PERFORMANCE DATA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Bai Jamjuree SemiBold" panose="00000700000000000000" pitchFamily="2" charset="-34"/>
                        <a:ea typeface="+mn-ea"/>
                        <a:cs typeface="Bai Jamjuree SemiBold" panose="00000700000000000000" pitchFamily="2" charset="-34"/>
                      </a:endParaRPr>
                    </a:p>
                  </a:txBody>
                  <a:tcPr marL="180000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tc hMerge="1"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33022">
                <a:tc gridSpan="2">
                  <a:txBody>
                    <a:bodyPr/>
                    <a:lstStyle/>
                    <a:p>
                      <a:pPr marL="0" lvl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  <a:sym typeface="+mn-ea"/>
                        </a:rPr>
                        <a:t>    Engine brand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3534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  <a:sym typeface="+mn-ea"/>
                        </a:rPr>
                        <a:t> Engine </a:t>
                      </a: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model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8682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Fuel</a:t>
                      </a:r>
                      <a:endParaRPr lang="en-US" sz="8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9194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Aspiration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9194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Cooling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9194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    Governor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8682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    Cyl arrangement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510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    Application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Prime &amp; Standby</a:t>
                      </a:r>
                      <a:endParaRPr lang="en-US" alt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70862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spc="-5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Fuel</a:t>
                      </a:r>
                      <a:r>
                        <a:rPr lang="en-US" altLang="zh-CN" sz="800" b="0" spc="-5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en-US" altLang="zh-CN" sz="800" b="0" spc="-5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consumption</a:t>
                      </a:r>
                      <a:endParaRPr lang="en-US" altLang="zh-CN" sz="800" b="0" spc="-5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100% ESP(L/H)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100% PRP(L/H)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75% PRP(L/H)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50% PRP(L/H)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445428" y="4250489"/>
            <a:ext cx="3168233" cy="1974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Standards : 2006/42/EC Machinery safety, 2006/95/EC Low voltage, EN 60204-1 : 2006+A1 : 2009, EN ISO 12100 : 2010, EN ISO 8528-13: 2016, ENISO 13849-1 :  2015, EN 60204-1 : 2018</a:t>
            </a:r>
            <a:endParaRPr lang="en-US" sz="800" kern="700" spc="-4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algn="just" eaLnBrk="0">
              <a:lnSpc>
                <a:spcPct val="120000"/>
              </a:lnSpc>
            </a:pP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PRP: Prime power is available for an unlimited number of annual operating hours in variable load applications , in accordance with ISO 8528-1.</a:t>
            </a:r>
            <a:endParaRPr lang="en-US" sz="800" kern="700" spc="-4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algn="just" eaLnBrk="0">
              <a:lnSpc>
                <a:spcPct val="120000"/>
              </a:lnSpc>
            </a:pP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ESP : The standby power rating is applicable for suppling emergency power in variable load applications in accordance with ISO 8528-1.overload is not allowed.</a:t>
            </a:r>
            <a:endParaRPr lang="en-US" sz="800" kern="700" spc="-4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algn="just" eaLnBrk="0">
              <a:lnSpc>
                <a:spcPct val="120000"/>
              </a:lnSpc>
            </a:pP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Conditions : According to the standard, the nominal power assigned by the </a:t>
            </a:r>
            <a:r>
              <a:rPr lang="en-US" sz="800" kern="700" spc="-4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genset</a:t>
            </a: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is given for 25</a:t>
            </a:r>
            <a:r>
              <a:rPr lang="en-US" altLang="zh-CN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°</a:t>
            </a: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C air inlet temperature, of a barometric pressure of 100 </a:t>
            </a:r>
            <a:r>
              <a:rPr lang="en-US" sz="800" kern="700" spc="-4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kPA</a:t>
            </a:r>
            <a:r>
              <a:rPr lang="en-US" sz="800" kern="700" spc="-4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(100 m A.S.L), and 30 % relative humidity.</a:t>
            </a:r>
            <a:endParaRPr sz="800" kern="700" spc="-4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17660" y="3928209"/>
            <a:ext cx="966990" cy="22778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45428" y="9434579"/>
            <a:ext cx="3262409" cy="5334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zh-CN" altLang="en-US" sz="800" kern="7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NOTE：Weights and dimensions based on standard products. According to 2000/14/CE , sound data is provided at 7m for 75% prime power. For actual </a:t>
            </a:r>
            <a:r>
              <a:rPr lang="en-US" altLang="zh-CN" sz="800" kern="7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i</a:t>
            </a:r>
            <a:r>
              <a:rPr lang="zh-CN" altLang="en-US" sz="800" kern="7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nstallation, </a:t>
            </a:r>
            <a:r>
              <a:rPr lang="en-US" altLang="zh-CN" sz="800" kern="7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please </a:t>
            </a:r>
            <a:r>
              <a:rPr lang="zh-CN" altLang="en-US" sz="800" kern="7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contact the manufacturer. </a:t>
            </a:r>
            <a:endParaRPr lang="zh-CN" altLang="en-US" sz="800" kern="700" spc="-50" dirty="0">
              <a:solidFill>
                <a:schemeClr val="tx1">
                  <a:lumMod val="65000"/>
                  <a:lumOff val="35000"/>
                </a:schemeClr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graphicFrame>
        <p:nvGraphicFramePr>
          <p:cNvPr id="27" name="内容占位符 5"/>
          <p:cNvGraphicFramePr>
            <a:graphicFrameLocks noGrp="1"/>
          </p:cNvGraphicFramePr>
          <p:nvPr>
            <p:custDataLst>
              <p:tags r:id="rId12"/>
            </p:custDataLst>
          </p:nvPr>
        </p:nvGraphicFramePr>
        <p:xfrm>
          <a:off x="486363" y="7014716"/>
          <a:ext cx="3055297" cy="1584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11295"/>
                <a:gridCol w="1008000"/>
                <a:gridCol w="936002"/>
              </a:tblGrid>
              <a:tr h="274912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sz="800" b="1" kern="1200" dirty="0">
                        <a:solidFill>
                          <a:srgbClr val="464B52"/>
                        </a:solidFill>
                        <a:effectLst/>
                        <a:latin typeface="Bai Jamjuree SemiBold" panose="00000700000000000000" pitchFamily="2" charset="-34"/>
                        <a:ea typeface="+mn-ea"/>
                        <a:cs typeface="Bai Jamjuree SemiBold" panose="000007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SemiBold" panose="00000700000000000000" pitchFamily="2" charset="-34"/>
                          <a:ea typeface="+mn-ea"/>
                          <a:cs typeface="Bai Jamjuree SemiBold" panose="00000700000000000000" pitchFamily="2" charset="-34"/>
                          <a:sym typeface="+mn-ea"/>
                        </a:rPr>
                        <a:t>OPEN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Bai Jamjuree SemiBold" panose="00000700000000000000" pitchFamily="2" charset="-34"/>
                        <a:ea typeface="+mn-ea"/>
                        <a:cs typeface="Bai Jamjuree SemiBold" panose="00000700000000000000" pitchFamily="2" charset="-34"/>
                        <a:sym typeface="+mn-ea"/>
                      </a:endParaRPr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SemiBold" panose="00000700000000000000" pitchFamily="2" charset="-34"/>
                          <a:ea typeface="+mn-ea"/>
                          <a:cs typeface="Bai Jamjuree SemiBold" panose="00000700000000000000" pitchFamily="2" charset="-34"/>
                          <a:sym typeface="+mn-ea"/>
                        </a:rPr>
                        <a:t>SILENT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Bai Jamjuree SemiBold" panose="00000700000000000000" pitchFamily="2" charset="-34"/>
                        <a:ea typeface="+mn-ea"/>
                        <a:cs typeface="Bai Jamjuree SemiBold" panose="00000700000000000000" pitchFamily="2" charset="-34"/>
                        <a:sym typeface="+mn-ea"/>
                      </a:endParaRPr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</a:tr>
              <a:tr h="277567">
                <a:tc>
                  <a:txBody>
                    <a:bodyPr/>
                    <a:lstStyle/>
                    <a:p>
                      <a:pPr lvl="0" indent="0" algn="l" fontAlgn="b">
                        <a:spcBef>
                          <a:spcPts val="3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800" b="0" kern="120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8631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3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800" kern="1200" spc="-50" baseline="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8631">
                <a:tc>
                  <a:txBody>
                    <a:bodyPr/>
                    <a:lstStyle/>
                    <a:p>
                      <a:endParaRPr lang="zh-CN" altLang="zh-CN" sz="800" kern="120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94259">
                <a:tc>
                  <a:txBody>
                    <a:bodyPr/>
                    <a:lstStyle/>
                    <a:p>
                      <a:endParaRPr lang="zh-CN" altLang="zh-CN" sz="800" kern="120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837" y="6570700"/>
            <a:ext cx="2520000" cy="360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1600" b="1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GENERAL INSTALLATION</a:t>
            </a:r>
            <a:endParaRPr lang="zh-CN" altLang="en-US" sz="1600" b="1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6363" y="7232467"/>
            <a:ext cx="1203157" cy="97900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35990" eaLnBrk="0">
              <a:lnSpc>
                <a:spcPts val="1880"/>
              </a:lnSpc>
            </a:pP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Dimension(L*W*H) (mm)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defTabSz="935990" eaLnBrk="0">
              <a:lnSpc>
                <a:spcPts val="1880"/>
              </a:lnSpc>
            </a:pP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Weight(kg)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defTabSz="935990" eaLnBrk="0">
              <a:lnSpc>
                <a:spcPts val="1880"/>
              </a:lnSpc>
            </a:pP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Fuel tank(L)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defTabSz="935990" eaLnBrk="0">
              <a:lnSpc>
                <a:spcPts val="1880"/>
              </a:lnSpc>
            </a:pP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Sound pressure level </a:t>
            </a:r>
            <a:endParaRPr lang="zh-CN" altLang="en-US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6363" y="7016467"/>
            <a:ext cx="1080000" cy="216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lvl="0" eaLnBrk="0">
              <a:lnSpc>
                <a:spcPct val="120000"/>
              </a:lnSpc>
            </a:pPr>
            <a:r>
              <a:rPr lang="en-US" altLang="zh-CN" sz="1000" b="1" dirty="0">
                <a:solidFill>
                  <a:srgbClr val="464B52"/>
                </a:solidFill>
                <a:latin typeface="Bai Jamjuree SemiBold" panose="00000700000000000000" pitchFamily="2" charset="-34"/>
                <a:cs typeface="Bai Jamjuree SemiBold" panose="00000700000000000000" pitchFamily="2" charset="-34"/>
              </a:rPr>
              <a:t>ITEMS</a:t>
            </a:r>
            <a:endParaRPr lang="en-US" altLang="zh-CN" sz="1000" b="1" dirty="0">
              <a:solidFill>
                <a:srgbClr val="464B52"/>
              </a:solidFill>
              <a:latin typeface="Bai Jamjuree SemiBold" panose="00000700000000000000" pitchFamily="2" charset="-34"/>
              <a:cs typeface="Bai Jamjuree SemiBold" panose="00000700000000000000" pitchFamily="2" charset="-3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6362" y="8181070"/>
            <a:ext cx="1203157" cy="3418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35990" eaLnBrk="0"/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@75% load&amp;1m       dB(A)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defTabSz="935990" eaLnBrk="0"/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@75% load&amp;7m      dB(A)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749658" y="8168922"/>
            <a:ext cx="634427" cy="3418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35990" eaLnBrk="0"/>
            <a:r>
              <a:rPr lang="en-US" altLang="en-US" sz="800" dirty="0">
                <a:solidFill>
                  <a:srgbClr val="464B52"/>
                </a:solidFill>
                <a:latin typeface="Bai Jamjuree Medium" panose="00000600000000000000" pitchFamily="2" charset="-34"/>
                <a:cs typeface="Bai Jamjuree Medium" panose="00000600000000000000" pitchFamily="2" charset="-34"/>
                <a:sym typeface="+mn-ea"/>
              </a:rPr>
              <a:t>12345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algn="ctr" defTabSz="935990" eaLnBrk="0"/>
            <a:r>
              <a:rPr lang="en-US" altLang="en-US" sz="800" dirty="0">
                <a:solidFill>
                  <a:srgbClr val="464B52"/>
                </a:solidFill>
                <a:latin typeface="Bai Jamjuree Medium" panose="00000600000000000000" pitchFamily="2" charset="-34"/>
                <a:cs typeface="Bai Jamjuree Medium" panose="00000600000000000000" pitchFamily="2" charset="-34"/>
                <a:sym typeface="+mn-ea"/>
              </a:rPr>
              <a:t>12345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779837" y="3834700"/>
            <a:ext cx="3024001" cy="360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1600" b="1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GENERATOR SPECIFICATION</a:t>
            </a:r>
            <a:endParaRPr lang="zh-CN" altLang="en-US" sz="1600" b="1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2411" y="6162903"/>
            <a:ext cx="270351" cy="263797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067335" y="6182609"/>
            <a:ext cx="648000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700" spc="-50" dirty="0">
                <a:solidFill>
                  <a:srgbClr val="888888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Water-cooled</a:t>
            </a:r>
            <a:endParaRPr lang="zh-CN" altLang="en-US" sz="700" spc="-50" dirty="0">
              <a:solidFill>
                <a:srgbClr val="888888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87837" y="6162902"/>
            <a:ext cx="261244" cy="263797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012761" y="6189161"/>
            <a:ext cx="639076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700" spc="-50" dirty="0">
                <a:solidFill>
                  <a:srgbClr val="888888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Three Phase</a:t>
            </a:r>
            <a:endParaRPr lang="zh-CN" altLang="en-US" sz="700" spc="-50" dirty="0">
              <a:solidFill>
                <a:srgbClr val="888888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876761" y="6189493"/>
            <a:ext cx="351076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700" spc="-50" dirty="0">
                <a:solidFill>
                  <a:srgbClr val="888888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50Hz</a:t>
            </a:r>
            <a:endParaRPr lang="zh-CN" altLang="en-US" sz="700" spc="-50" dirty="0">
              <a:solidFill>
                <a:srgbClr val="888888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07293" y="6171603"/>
            <a:ext cx="246555" cy="24409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97305" y="6181021"/>
            <a:ext cx="239832" cy="238243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6596760" y="6192371"/>
            <a:ext cx="351076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700" spc="-50" dirty="0">
                <a:solidFill>
                  <a:srgbClr val="888888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Diesel</a:t>
            </a:r>
            <a:endParaRPr lang="zh-CN" altLang="en-US" sz="700" spc="-50" dirty="0">
              <a:solidFill>
                <a:srgbClr val="888888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35719" y="106258"/>
            <a:ext cx="1844926" cy="6252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3000" b="1" dirty="0">
                <a:solidFill>
                  <a:schemeClr val="bg1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12345</a:t>
            </a:r>
            <a:endParaRPr lang="en-US" altLang="zh-CN" sz="3000" b="1" dirty="0">
              <a:solidFill>
                <a:schemeClr val="bg1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内容占位符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67837" y="1719732"/>
          <a:ext cx="3146963" cy="238897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58642"/>
                <a:gridCol w="1288321"/>
              </a:tblGrid>
              <a:tr h="343779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BASIC DATA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Engine brand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Engine model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Displacement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063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No. of </a:t>
                      </a:r>
                      <a:r>
                        <a:rPr lang="en-US" sz="800" b="0" kern="1200" dirty="0" err="1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cyl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/ arrangement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0510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Bore x stroke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2732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Compression ratio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2345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7078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Engine speed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7015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Engine type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4-stroke 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diesel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3" name="内容占位符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67837" y="4338700"/>
          <a:ext cx="3146964" cy="128385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06408"/>
                <a:gridCol w="740556"/>
              </a:tblGrid>
              <a:tr h="312108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EXHAUST SYSTEM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306492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Exhaust stack gas temperature</a:t>
                      </a:r>
                      <a:r>
                        <a:rPr lang="en-US" altLang="zh-CN" sz="800" b="0" kern="1200" spc="-2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(</a:t>
                      </a:r>
                      <a:r>
                        <a:rPr lang="en-US" alt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max.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)</a:t>
                      </a:r>
                      <a:endParaRPr lang="en-US" alt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81052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Exhaust gas flow rate</a:t>
                      </a:r>
                      <a:r>
                        <a:rPr lang="en-US" altLang="zh-CN" sz="800" b="0" kern="1200" spc="-2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(</a:t>
                      </a: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max.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)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419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Exhaust system backpressure</a:t>
                      </a:r>
                      <a:r>
                        <a:rPr lang="en-US" sz="800" b="0" kern="1200" spc="-2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(maximum allowable)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4" name="内容占位符 5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69324" y="5992880"/>
          <a:ext cx="3152705" cy="8658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10798"/>
                <a:gridCol w="741907"/>
              </a:tblGrid>
              <a:tr h="320226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FUEL SYSTEM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8460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Maximum restriction at lift pump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Max. fuel flow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5" name="内容占位符 5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3921845" y="1714706"/>
          <a:ext cx="3097992" cy="114080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56601"/>
                <a:gridCol w="1541391"/>
              </a:tblGrid>
              <a:tr h="354223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COOLING SYSTEM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67865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Radiator air flow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9323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Total oil capacity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9394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Total coolant capacity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837" y="1314700"/>
            <a:ext cx="3096000" cy="4178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1600" b="1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ENGINE  SPECIFICATION</a:t>
            </a:r>
            <a:endParaRPr lang="zh-CN" altLang="en-US" sz="1600" b="1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graphicFrame>
        <p:nvGraphicFramePr>
          <p:cNvPr id="2" name="内容占位符 5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3921844" y="3699608"/>
          <a:ext cx="3097993" cy="117190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24182"/>
                <a:gridCol w="1473811"/>
              </a:tblGrid>
              <a:tr h="363201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ELECTRICAL SYSTEM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8774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Starter motor rated voltage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3864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Start battery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7088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Battery charging alternator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3" name="内容占位符 5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3921844" y="5445363"/>
          <a:ext cx="3097993" cy="141333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32408"/>
                <a:gridCol w="865585"/>
              </a:tblGrid>
              <a:tr h="337183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464B52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INLET AIR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90547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Air filter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643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Max. combustion air Intake restriction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9588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Combustion air inlet flow rate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9588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Max. allowable combustion air inlet temp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5" name="内容占位符 5"/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467837" y="7876840"/>
          <a:ext cx="3245326" cy="18618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16737"/>
                <a:gridCol w="1328589"/>
              </a:tblGrid>
              <a:tr h="347010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chemeClr val="bg1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BASIC DATA</a:t>
                      </a:r>
                      <a:endParaRPr lang="en-US" altLang="zh-CN" sz="1000" b="1" kern="1200" dirty="0">
                        <a:solidFill>
                          <a:schemeClr val="bg1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B52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Insulation &amp; temperature rise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4767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Excitation type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  <a:tr h="23445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Winding leads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050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Winding connections (standard)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  <a:tr h="252732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Winding pitch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47078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Number of phase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内容占位符 5"/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3723344" y="7876840"/>
          <a:ext cx="3277711" cy="18618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35863"/>
                <a:gridCol w="1341848"/>
              </a:tblGrid>
              <a:tr h="347010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 kern="1200" dirty="0">
                          <a:solidFill>
                            <a:schemeClr val="bg1"/>
                          </a:solidFill>
                          <a:effectLst/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BASIC DATA</a:t>
                      </a:r>
                      <a:endParaRPr lang="en-US" altLang="zh-CN" sz="1000" b="1" kern="1200" dirty="0">
                        <a:solidFill>
                          <a:schemeClr val="bg1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B52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Type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Brushless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4767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No. of bearings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12345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  <a:tr h="23445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Coupling system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Flexible disc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050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Maximum over speed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2250 RPM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  <a:tr h="252732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Coating type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Vacuum impregnation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47078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IP rating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IP23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95837" y="7417671"/>
            <a:ext cx="3096000" cy="4178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1600" b="1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ALTERNATOR  SPECIFICATION</a:t>
            </a:r>
            <a:endParaRPr lang="zh-CN" altLang="en-US" sz="1600" b="1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22070" y="5305425"/>
            <a:ext cx="251968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ea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49070" y="5432425"/>
            <a:ext cx="251968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ea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28745" y="4424680"/>
            <a:ext cx="251968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rtl="0" ea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1070" y="6457950"/>
            <a:ext cx="251968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ea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44"/>
            <a:ext cx="7559675" cy="106877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" y="508"/>
            <a:ext cx="7559040" cy="1069238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UNIT_TABLE_BEAUTIFY" val="smartTable{4e9bd78d-e7e8-4dc1-a095-75ae4c122314}"/>
  <p:tag name="KSO_WM_BEAUTIFY_FLAG" val=""/>
  <p:tag name="TABLE_ENDDRAG_ORIGIN_RECT" val="533*170"/>
  <p:tag name="TABLE_ENDDRAG_RECT" val="29*305*533*170"/>
</p:tagLst>
</file>

<file path=ppt/tags/tag4.xml><?xml version="1.0" encoding="utf-8"?>
<p:tagLst xmlns:p="http://schemas.openxmlformats.org/presentationml/2006/main">
  <p:tag name="KSO_WM_UNIT_TABLE_BEAUTIFY" val="smartTable{ffcba7ef-8fbc-4a18-9bb1-b7fb57d91550}"/>
  <p:tag name="KSO_WM_BEAUTIFY_FLAG" val=""/>
  <p:tag name="TABLE_ENDDRAG_ORIGIN_RECT" val="266*307"/>
  <p:tag name="TABLE_ENDDRAG_RECT" val="304*293*266*307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UNIT_TABLE_BEAUTIFY" val="smartTable{2bdc550f-6415-4f27-a43a-33e1d4996f26}"/>
  <p:tag name="TABLE_ENDDRAG_ORIGIN_RECT" val="349*150"/>
  <p:tag name="TABLE_ENDDRAG_RECT" val="29*543*349*150"/>
  <p:tag name="KSO_WM_BEAUTIFY_FLAG" val=""/>
</p:tagLst>
</file>

<file path=ppt/tags/tag8.xml><?xml version="1.0" encoding="utf-8"?>
<p:tagLst xmlns:p="http://schemas.openxmlformats.org/presentationml/2006/main">
  <p:tag name="KSO_WM_UNIT_TABLE_BEAUTIFY" val="smartTable{d4384e1b-4cb3-4b62-b22d-88d2e329597a}"/>
  <p:tag name="TABLE_ENDDRAG_ORIGIN_RECT" val="349*150"/>
  <p:tag name="TABLE_ENDDRAG_RECT" val="29*543*349*150"/>
  <p:tag name="KSO_WM_BEAUTIFY_FLAG" val=""/>
</p:tagLst>
</file>

<file path=ppt/tags/tag9.xml><?xml version="1.0" encoding="utf-8"?>
<p:tagLst xmlns:p="http://schemas.openxmlformats.org/presentationml/2006/main">
  <p:tag name="KSO_WM_UNIT_TABLE_BEAUTIFY" val="smartTable{711d024b-07a9-4e3c-b4ed-3a623103627f}"/>
  <p:tag name="TABLE_ENDDRAG_ORIGIN_RECT" val="349*150"/>
  <p:tag name="TABLE_ENDDRAG_RECT" val="29*543*349*150"/>
  <p:tag name="KSO_WM_BEAUTIFY_FLAG" val=""/>
</p:tagLst>
</file>

<file path=ppt/tags/tag10.xml><?xml version="1.0" encoding="utf-8"?>
<p:tagLst xmlns:p="http://schemas.openxmlformats.org/presentationml/2006/main">
  <p:tag name="KSO_WM_UNIT_TABLE_BEAUTIFY" val="smartTable{129a5a31-5348-4fc3-8a46-b4c497d576b8}"/>
  <p:tag name="TABLE_ENDDRAG_ORIGIN_RECT" val="349*150"/>
  <p:tag name="TABLE_ENDDRAG_RECT" val="29*543*349*150"/>
  <p:tag name="KSO_WM_BEAUTIFY_FLAG" val=""/>
</p:tagLst>
</file>

<file path=ppt/tags/tag11.xml><?xml version="1.0" encoding="utf-8"?>
<p:tagLst xmlns:p="http://schemas.openxmlformats.org/presentationml/2006/main">
  <p:tag name="KSO_WM_UNIT_TABLE_BEAUTIFY" val="smartTable{173186a8-20b6-48b0-9025-75e4fdccb831}"/>
  <p:tag name="TABLE_ENDDRAG_ORIGIN_RECT" val="349*150"/>
  <p:tag name="TABLE_ENDDRAG_RECT" val="29*543*349*150"/>
  <p:tag name="KSO_WM_BEAUTIFY_FLAG" val=""/>
</p:tagLst>
</file>

<file path=ppt/tags/tag12.xml><?xml version="1.0" encoding="utf-8"?>
<p:tagLst xmlns:p="http://schemas.openxmlformats.org/presentationml/2006/main">
  <p:tag name="KSO_WM_UNIT_TABLE_BEAUTIFY" val="smartTable{38e746cf-a763-417f-9d25-d178dab8d801}"/>
  <p:tag name="TABLE_ENDDRAG_ORIGIN_RECT" val="349*150"/>
  <p:tag name="TABLE_ENDDRAG_RECT" val="29*543*349*150"/>
  <p:tag name="KSO_WM_BEAUTIFY_FLAG" val=""/>
</p:tagLst>
</file>

<file path=ppt/tags/tag13.xml><?xml version="1.0" encoding="utf-8"?>
<p:tagLst xmlns:p="http://schemas.openxmlformats.org/presentationml/2006/main">
  <p:tag name="KSO_WM_UNIT_TABLE_BEAUTIFY" val="smartTable{22e13b2e-a2a6-43fd-a652-5a03385a0e63}"/>
  <p:tag name="TABLE_ENDDRAG_ORIGIN_RECT" val="349*150"/>
  <p:tag name="TABLE_ENDDRAG_RECT" val="29*543*349*150"/>
  <p:tag name="KSO_WM_BEAUTIFY_FLAG" val=""/>
</p:tagLst>
</file>

<file path=ppt/tags/tag14.xml><?xml version="1.0" encoding="utf-8"?>
<p:tagLst xmlns:p="http://schemas.openxmlformats.org/presentationml/2006/main">
  <p:tag name="KSO_WM_UNIT_TABLE_BEAUTIFY" val="smartTable{cec2da5c-6015-4b9a-994e-99cd5218e5bd}"/>
  <p:tag name="TABLE_ENDDRAG_ORIGIN_RECT" val="349*150"/>
  <p:tag name="TABLE_ENDDRAG_RECT" val="29*543*349*150"/>
  <p:tag name="KSO_WM_BEAUTIFY_FLAG" val=""/>
</p:tagLst>
</file>

<file path=ppt/tags/tag15.xml><?xml version="1.0" encoding="utf-8"?>
<p:tagLst xmlns:p="http://schemas.openxmlformats.org/presentationml/2006/main">
  <p:tag name="KSO_WM_UNIT_TABLE_BEAUTIFY" val="smartTable{3f71ff00-0466-4951-b92b-c2ac56b5ba17}"/>
  <p:tag name="TABLE_ENDDRAG_ORIGIN_RECT" val="349*150"/>
  <p:tag name="TABLE_ENDDRAG_RECT" val="29*543*349*150"/>
  <p:tag name="KSO_WM_BEAUTIFY_FLAG" val=""/>
</p:tagLst>
</file>

<file path=ppt/tags/tag16.xml><?xml version="1.0" encoding="utf-8"?>
<p:tagLst xmlns:p="http://schemas.openxmlformats.org/presentationml/2006/main">
  <p:tag name="KSO_WPP_MARK_KEY" val="f0e48a33-d7b1-4d2c-84ff-7b32dd322aea"/>
  <p:tag name="COMMONDATA" val="eyJoZGlkIjoiNTc1ZThmMjcyMTc4NDg0YjIyMzQ3YThlOTllYzBhYzU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vert="horz" wrap="square" lIns="0" tIns="0" rIns="0" bIns="0"/>
      <a:lstStyle>
        <a:defPPr algn="l" rtl="0" eaLnBrk="0">
          <a:lnSpc>
            <a:spcPct val="110000"/>
          </a:lnSpc>
          <a:spcBef>
            <a:spcPts val="0"/>
          </a:spcBef>
          <a:spcAft>
            <a:spcPts val="0"/>
          </a:spcAft>
          <a:defRPr lang="en-US" altLang="en-US" sz="10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ea typeface="黑体" panose="02010609060101010101" charset="-122"/>
            <a:cs typeface="Arial" panose="020B0604020202020204" pitchFamily="34" charset="0"/>
          </a:defRPr>
        </a:defPPr>
      </a:lstStyle>
    </a:spDef>
    <a:txDef>
      <a:spPr>
        <a:noFill/>
      </a:spPr>
      <a:bodyPr wrap="square" rtlCol="0">
        <a:noAutofit/>
      </a:bodyPr>
      <a:lstStyle>
        <a:defPPr algn="l" rtl="0" eaLnBrk="0">
          <a:lnSpc>
            <a:spcPct val="120000"/>
          </a:lnSpc>
          <a:spcBef>
            <a:spcPts val="0"/>
          </a:spcBef>
          <a:spcAft>
            <a:spcPts val="0"/>
          </a:spcAft>
          <a:defRPr lang="en-US" altLang="en-US" sz="10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ea typeface="黑体" panose="02010609060101010101" charset="-122"/>
            <a:cs typeface="Arial" panose="020B0604020202020204" pitchFamily="34" charset="0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2842</Words>
  <Application>WPS 演示</Application>
  <PresentationFormat>自定义</PresentationFormat>
  <Paragraphs>330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黑体</vt:lpstr>
      <vt:lpstr>Bai Jamjuree SemiBold</vt:lpstr>
      <vt:lpstr>Bai Jamjuree Medium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sijxs</cp:lastModifiedBy>
  <cp:revision>314</cp:revision>
  <dcterms:created xsi:type="dcterms:W3CDTF">2023-06-05T06:07:00Z</dcterms:created>
  <dcterms:modified xsi:type="dcterms:W3CDTF">2026-10-19T03:30:37Z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2023-06-15T05:58:16Z</vt:filetime>
  </property>
  <property fmtid="{D5CDD505-2E9C-101B-9397-08002B2CF9AE}" pid="4" name="ICV">
    <vt:lpwstr>2BF7E5A5D99F407EA787A25B930317E3_13</vt:lpwstr>
  </property>
  <property fmtid="{D5CDD505-2E9C-101B-9397-08002B2CF9AE}" pid="5" name="KSOProductBuildVer">
    <vt:lpwstr>2052-12.1.0.28505</vt:lpwstr>
  </property>
</Properties>
</file>