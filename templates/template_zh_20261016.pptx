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395" r:id="rId3"/>
    <p:sldId id="369" r:id="rId4"/>
    <p:sldId id="403" r:id="rId5"/>
    <p:sldId id="402" r:id="rId6"/>
  </p:sldIdLst>
  <p:sldSz cx="7559675" cy="10693400"/>
  <p:notesSz cx="6858000" cy="9144000"/>
  <p:embeddedFontLst>
    <p:embeddedFont>
      <p:font typeface="黑体" panose="02010609060101010101" charset="-122"/>
      <p:regular r:id="rId12"/>
    </p:embeddedFont>
    <p:embeddedFont>
      <p:font typeface="思源黑体 CN Heavy" panose="020B0A00000000000000" pitchFamily="34" charset="-122"/>
      <p:bold r:id="rId13"/>
    </p:embeddedFont>
    <p:embeddedFont>
      <p:font typeface="Bai Jamjuree SemiBold" panose="00000700000000000000" pitchFamily="2" charset="-34"/>
      <p:bold r:id="rId14"/>
    </p:embeddedFont>
    <p:embeddedFont>
      <p:font typeface="思源黑体 CN Medium" panose="020B0600000000000000" pitchFamily="34" charset="-122"/>
      <p:regular r:id="rId15"/>
    </p:embeddedFont>
    <p:embeddedFont>
      <p:font typeface="Bai Jamjuree Medium" panose="00000600000000000000" pitchFamily="2" charset="-34"/>
      <p:regular r:id="rId16"/>
    </p:embeddedFont>
    <p:embeddedFont>
      <p:font typeface="思源黑体 CN Normal" panose="020B0400000000000000" pitchFamily="3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588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pos="4564" userDrawn="1">
          <p15:clr>
            <a:srgbClr val="A4A3A4"/>
          </p15:clr>
        </p15:guide>
        <p15:guide id="4" orient="horz" pos="690" userDrawn="1">
          <p15:clr>
            <a:srgbClr val="A4A3A4"/>
          </p15:clr>
        </p15:guide>
        <p15:guide id="5" pos="2308" userDrawn="1">
          <p15:clr>
            <a:srgbClr val="A4A3A4"/>
          </p15:clr>
        </p15:guide>
        <p15:guide id="6" pos="2432" userDrawn="1">
          <p15:clr>
            <a:srgbClr val="A4A3A4"/>
          </p15:clr>
        </p15:guide>
        <p15:guide id="7" orient="horz" pos="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A89"/>
    <a:srgbClr val="51545D"/>
    <a:srgbClr val="E6E6E6"/>
    <a:srgbClr val="464B52"/>
    <a:srgbClr val="F0F0F0"/>
    <a:srgbClr val="DCDDDD"/>
    <a:srgbClr val="888888"/>
    <a:srgbClr val="DBDDDC"/>
    <a:srgbClr val="FFFFFF"/>
    <a:srgbClr val="8B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howGuides="1">
      <p:cViewPr>
        <p:scale>
          <a:sx n="125" d="100"/>
          <a:sy n="125" d="100"/>
        </p:scale>
        <p:origin x="1596" y="90"/>
      </p:cViewPr>
      <p:guideLst>
        <p:guide orient="horz" pos="6588"/>
        <p:guide pos="217"/>
        <p:guide pos="4564"/>
        <p:guide orient="horz" pos="690"/>
        <p:guide pos="2308"/>
        <p:guide pos="2432"/>
        <p:guide orient="horz" pos="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30.xml"/><Relationship Id="rId21" Type="http://schemas.openxmlformats.org/officeDocument/2006/relationships/font" Target="fonts/font10.fntdata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144" y="1143000"/>
            <a:ext cx="218171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4959" y="1750055"/>
            <a:ext cx="5669756" cy="3722888"/>
          </a:xfrm>
        </p:spPr>
        <p:txBody>
          <a:bodyPr anchor="b"/>
          <a:lstStyle>
            <a:lvl1pPr algn="ctr">
              <a:defRPr sz="364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4959" y="5616511"/>
            <a:ext cx="5669756" cy="2581762"/>
          </a:xfrm>
        </p:spPr>
        <p:txBody>
          <a:bodyPr/>
          <a:lstStyle>
            <a:lvl1pPr marL="0" indent="0" algn="ctr">
              <a:buNone/>
              <a:defRPr sz="1455"/>
            </a:lvl1pPr>
            <a:lvl2pPr marL="277495" indent="0" algn="ctr">
              <a:buNone/>
              <a:defRPr sz="1215"/>
            </a:lvl2pPr>
            <a:lvl3pPr marL="554990" indent="0" algn="ctr">
              <a:buNone/>
              <a:defRPr sz="1095"/>
            </a:lvl3pPr>
            <a:lvl4pPr marL="833120" indent="0" algn="ctr">
              <a:buNone/>
              <a:defRPr sz="970"/>
            </a:lvl4pPr>
            <a:lvl5pPr marL="1110615" indent="0" algn="ctr">
              <a:buNone/>
              <a:defRPr sz="970"/>
            </a:lvl5pPr>
            <a:lvl6pPr marL="1388110" indent="0" algn="ctr">
              <a:buNone/>
              <a:defRPr sz="970"/>
            </a:lvl6pPr>
            <a:lvl7pPr marL="1665605" indent="0" algn="ctr">
              <a:buNone/>
              <a:defRPr sz="970"/>
            </a:lvl7pPr>
            <a:lvl8pPr marL="1943100" indent="0" algn="ctr">
              <a:buNone/>
              <a:defRPr sz="970"/>
            </a:lvl8pPr>
            <a:lvl9pPr marL="2221230" indent="0" algn="ctr">
              <a:buNone/>
              <a:defRPr sz="97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1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image" Target="../media/image14.png"/><Relationship Id="rId7" Type="http://schemas.openxmlformats.org/officeDocument/2006/relationships/tags" Target="../tags/tag17.xml"/><Relationship Id="rId6" Type="http://schemas.openxmlformats.org/officeDocument/2006/relationships/image" Target="../media/image13.png"/><Relationship Id="rId5" Type="http://schemas.openxmlformats.org/officeDocument/2006/relationships/tags" Target="../tags/tag16.xml"/><Relationship Id="rId4" Type="http://schemas.openxmlformats.org/officeDocument/2006/relationships/image" Target="../media/image12.png"/><Relationship Id="rId3" Type="http://schemas.openxmlformats.org/officeDocument/2006/relationships/tags" Target="../tags/tag15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8.png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14.xml"/><Relationship Id="rId19" Type="http://schemas.openxmlformats.org/officeDocument/2006/relationships/image" Target="../media/image20.jpe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2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未标题-1_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65" y="8886716"/>
            <a:ext cx="1759795" cy="539199"/>
          </a:xfrm>
          <a:prstGeom prst="rect">
            <a:avLst/>
          </a:prstGeom>
        </p:spPr>
      </p:pic>
      <p:graphicFrame>
        <p:nvGraphicFramePr>
          <p:cNvPr id="26" name="内容占位符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851837" y="4338700"/>
          <a:ext cx="3096000" cy="166754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8797"/>
                <a:gridCol w="716623"/>
                <a:gridCol w="590580"/>
              </a:tblGrid>
              <a:tr h="304211">
                <a:tc>
                  <a:txBody>
                    <a:bodyPr/>
                    <a:lstStyle/>
                    <a:p>
                      <a:pPr lvl="0" indent="0" algn="l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i="0" u="none" strike="noStrike" kern="1200" baseline="0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+mn-cs"/>
                        </a:rPr>
                        <a:t>应用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主用</a:t>
                      </a:r>
                      <a:endParaRPr lang="en-US" sz="1000" b="1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备用</a:t>
                      </a:r>
                      <a:endParaRPr lang="en-US" sz="800" b="1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81913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功率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(kVA)</a:t>
                      </a:r>
                      <a:endParaRPr lang="en-US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650kVA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715kVA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功率</a:t>
                      </a: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(kW)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520kW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572kW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频率</a:t>
                      </a: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/ </a:t>
                      </a:r>
                      <a:r>
                        <a:rPr lang="zh-CN" alt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相数</a:t>
                      </a:r>
                      <a:r>
                        <a:rPr 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/ </a:t>
                      </a:r>
                      <a:r>
                        <a:rPr lang="zh-CN" altLang="en-US" sz="800" b="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功率因素</a:t>
                      </a:r>
                      <a:endParaRPr lang="en-US" sz="800" b="0" spc="-50" baseline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50Hz / 3P / PF0.8</a:t>
                      </a:r>
                      <a:endParaRPr 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标准电压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</a:rPr>
                        <a:t>400/230V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356">
                <a:tc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可用电压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eaLnBrk="0" font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380/220V · 415/240V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35719" y="657209"/>
            <a:ext cx="1844926" cy="29617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eaLnBrk="0"/>
            <a:r>
              <a:rPr lang="zh-CN" altLang="en-US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采用</a:t>
            </a:r>
            <a:r>
              <a:rPr lang="zh-CN" altLang="en-US" sz="900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潍柴发动机</a:t>
            </a:r>
            <a:endParaRPr lang="zh-CN" altLang="en-US" sz="900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39" name="内容占位符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851837" y="7007519"/>
          <a:ext cx="3096001" cy="28940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80000"/>
                <a:gridCol w="936000"/>
                <a:gridCol w="1080001"/>
              </a:tblGrid>
              <a:tr h="295197">
                <a:tc gridSpan="3">
                  <a:txBody>
                    <a:bodyPr/>
                    <a:lstStyle/>
                    <a:p>
                      <a:pPr lvl="0" indent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5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</a:rPr>
                        <a:t>基础参数</a:t>
                      </a:r>
                      <a:endParaRPr lang="en-US" altLang="zh-CN" sz="105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</a:endParaRPr>
                    </a:p>
                  </a:txBody>
                  <a:tcPr marL="180000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  <a:tc hMerge="1">
                  <a:tcPr marL="79632" marR="79632" marT="39816" marB="3981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33022">
                <a:tc gridSpan="2">
                  <a:txBody>
                    <a:bodyPr/>
                    <a:lstStyle/>
                    <a:p>
                      <a:pPr marL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品牌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潍柴</a:t>
                      </a:r>
                      <a:endParaRPr lang="zh-CN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534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发动机型号</a:t>
                      </a:r>
                      <a:endParaRPr lang="en-US" altLang="en-US" sz="7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6M33D633E200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燃料</a:t>
                      </a:r>
                      <a:endParaRPr lang="en-US" sz="8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柴油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进气方式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涡轮增压和中冷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冷却方式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水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冷</a:t>
                      </a:r>
                      <a:endParaRPr lang="zh-CN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9194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调速方式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电子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调速</a:t>
                      </a:r>
                      <a:endParaRPr lang="zh-CN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82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气缸排列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spc="-50" baseline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6L</a:t>
                      </a:r>
                      <a:endParaRPr lang="en-US" altLang="en-US" sz="800" b="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510">
                <a:tc gridSpan="2"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应用类型</a:t>
                      </a:r>
                      <a:endParaRPr lang="en-US" altLang="zh-CN" sz="800" b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72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kern="120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主用</a:t>
                      </a:r>
                      <a:r>
                        <a:rPr lang="en-US" altLang="zh-CN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 &amp; </a:t>
                      </a:r>
                      <a:r>
                        <a:rPr lang="zh-CN" altLang="en-US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备</a:t>
                      </a:r>
                      <a:r>
                        <a:rPr lang="zh-CN" altLang="en-US" sz="800" b="1" kern="1200" spc="-5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思源黑体 CN Medium" panose="020B0600000000000000" pitchFamily="34" charset="-122"/>
                        </a:rPr>
                        <a:t>用</a:t>
                      </a:r>
                      <a:endParaRPr lang="en-US" altLang="en-US" sz="800" b="1" kern="1200" spc="-50" baseline="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思源黑体 CN Medium" panose="020B0600000000000000" pitchFamily="34" charset="-122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70862">
                <a:tc>
                  <a:txBody>
                    <a:bodyPr/>
                    <a:lstStyle/>
                    <a:p>
                      <a:pPr lvl="0" indent="0" algn="l" eaLnBrk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spc="-5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燃油消耗量</a:t>
                      </a:r>
                      <a:endParaRPr lang="en-US" altLang="zh-CN" sz="800" b="0" spc="-5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备用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100% </a:t>
                      </a:r>
                      <a:r>
                        <a:rPr lang="zh-CN" altLang="en-US" sz="800" b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主用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75% </a:t>
                      </a:r>
                      <a:r>
                        <a:rPr lang="zh-CN" altLang="en-US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主用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l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50% </a:t>
                      </a:r>
                      <a:r>
                        <a:rPr lang="zh-CN" altLang="en-US" sz="8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  <a:sym typeface="+mn-ea"/>
                        </a:rPr>
                        <a:t>主用</a:t>
                      </a:r>
                      <a:r>
                        <a:rPr lang="en-US" altLang="en-US" sz="800" b="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(L/H)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151.2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134.6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99.2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66.8</a:t>
                      </a:r>
                      <a:endParaRPr lang="en-US" altLang="en-US" sz="800" b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cs typeface="Bai Jamjuree Medium" panose="00000600000000000000" pitchFamily="2" charset="-34"/>
                        <a:sym typeface="+mn-ea"/>
                      </a:endParaRPr>
                    </a:p>
                  </a:txBody>
                  <a:tcPr marL="72754" marR="72754" marT="37914" marB="37914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445428" y="4250489"/>
            <a:ext cx="3168233" cy="1974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标准：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2006/42/EC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欧盟机械安全指令，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2006/95/EC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欧盟低电压指令，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EN 60204-1: 2006+A1: 2009, ENISO 12100: 2010, ENISO 8528 - 13:16, ENISO 13849 - 1:15, EN 60204 - 1: 2018</a:t>
            </a: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PRP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常用功率：根据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ISO 8528-1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，在可变负载应用中，可提供无限的年工作小时数。</a:t>
            </a: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ESP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备用功率：根据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ISO 8528-1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，待机功率额定值适用于在可变负载应用中提供应急电源，不允许超载。</a:t>
            </a: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endParaRPr lang="en-US" altLang="zh-CN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条件：根据标准，发电机组指定的标称功率为进气温度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25℃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，气压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100kPA (100m A.S.L)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，相对湿度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30%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。</a:t>
            </a:r>
            <a:endParaRPr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7660" y="3928209"/>
            <a:ext cx="966990" cy="2277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5428" y="9434579"/>
            <a:ext cx="3168233" cy="5334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注：重量和尺寸以标准产品为准。根据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2000/14/CE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，在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7m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处提供</a:t>
            </a:r>
            <a:r>
              <a:rPr lang="en-US" altLang="zh-CN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75%</a:t>
            </a: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Bai Jamjuree Medium" panose="00000600000000000000" pitchFamily="2" charset="-34"/>
                <a:sym typeface="+mn-ea"/>
              </a:rPr>
              <a:t>初始功率的声音数据。如需实际安装，请与厂家联系。</a:t>
            </a:r>
            <a:endParaRPr lang="zh-CN" altLang="en-US"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27" name="内容占位符 5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86363" y="7014716"/>
          <a:ext cx="3168232" cy="158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52373"/>
                <a:gridCol w="1017131"/>
                <a:gridCol w="998728"/>
              </a:tblGrid>
              <a:tr h="274912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800" b="1" kern="1200" dirty="0">
                        <a:solidFill>
                          <a:srgbClr val="464B52"/>
                        </a:solidFill>
                        <a:effectLst/>
                        <a:latin typeface="Bai Jamjuree SemiBold" panose="00000700000000000000" pitchFamily="2" charset="-34"/>
                        <a:ea typeface="+mn-ea"/>
                        <a:cs typeface="Bai Jamjuree SemiBold" panose="000007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敞开型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SemiBold" panose="00000700000000000000" pitchFamily="2" charset="-34"/>
                          <a:sym typeface="+mn-ea"/>
                        </a:rPr>
                        <a:t>静音型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SemiBold" panose="00000700000000000000" pitchFamily="2" charset="-34"/>
                        <a:sym typeface="+mn-ea"/>
                      </a:endParaRPr>
                    </a:p>
                  </a:txBody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77567">
                <a:tc>
                  <a:txBody>
                    <a:bodyPr/>
                    <a:lstStyle/>
                    <a:p>
                      <a:pPr lvl="0" indent="0" algn="l" fontAlgn="b">
                        <a:spcBef>
                          <a:spcPts val="300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800" b="0" kern="1200" spc="-50" baseline="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3800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1750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*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2450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5050*1800*2550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31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3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800" kern="1200" spc="-50" baseline="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5050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TBA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18631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1100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1200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4259">
                <a:tc>
                  <a:txBody>
                    <a:bodyPr/>
                    <a:lstStyle/>
                    <a:p>
                      <a:endParaRPr lang="zh-CN" altLang="zh-CN" sz="800" kern="1200" dirty="0">
                        <a:solidFill>
                          <a:srgbClr val="464B52"/>
                        </a:solidFill>
                        <a:effectLst/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6570700"/>
            <a:ext cx="2520000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  <a:sym typeface="+mn-ea"/>
              </a:rPr>
              <a:t>常规参数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363" y="7232467"/>
            <a:ext cx="1203157" cy="9790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尺寸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(L*W*H) (mm)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净重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(kg)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油箱容量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(L)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>
              <a:lnSpc>
                <a:spcPts val="1880"/>
              </a:lnSpc>
            </a:pPr>
            <a:r>
              <a:rPr lang="zh-CN" altLang="en-US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噪音等级</a:t>
            </a:r>
            <a:r>
              <a:rPr lang="en-US" altLang="zh-CN" sz="800" spc="-50" dirty="0">
                <a:solidFill>
                  <a:srgbClr val="464B5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 </a:t>
            </a:r>
            <a:endParaRPr lang="zh-CN" altLang="en-US" sz="800" spc="-50" dirty="0">
              <a:solidFill>
                <a:srgbClr val="464B5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363" y="7016467"/>
            <a:ext cx="1080000" cy="216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lvl="0" eaLnBrk="0">
              <a:lnSpc>
                <a:spcPct val="120000"/>
              </a:lnSpc>
            </a:pPr>
            <a:r>
              <a:rPr lang="zh-CN" altLang="en-US" sz="10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SemiBold" panose="00000700000000000000" pitchFamily="2" charset="-34"/>
              </a:rPr>
              <a:t>类别</a:t>
            </a:r>
            <a:endParaRPr lang="en-US" altLang="zh-CN" sz="10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SemiBold" panose="00000700000000000000" pitchFamily="2" charset="-3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6362" y="8213688"/>
            <a:ext cx="1441334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 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负载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&amp;  1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米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     dB(A)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@75%  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负载 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&amp; 7</a:t>
            </a:r>
            <a:r>
              <a:rPr lang="zh-CN" altLang="en-US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米</a:t>
            </a:r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      dB(A)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52796" y="8213687"/>
            <a:ext cx="634427" cy="341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——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  <a:p>
            <a:pPr algn="ctr" defTabSz="935990" eaLnBrk="0"/>
            <a:r>
              <a:rPr lang="en-US" altLang="zh-CN" sz="800" spc="-50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——</a:t>
            </a:r>
            <a:endParaRPr lang="en-US" altLang="zh-CN" sz="800" spc="-50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79837" y="3906700"/>
            <a:ext cx="3024001" cy="360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发电机组额定输出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2411" y="6162903"/>
            <a:ext cx="270351" cy="26379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67335" y="6182609"/>
            <a:ext cx="648000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700" spc="-50" dirty="0">
                <a:solidFill>
                  <a:srgbClr val="88888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水冷</a:t>
            </a:r>
            <a:endParaRPr lang="zh-CN" altLang="en-US" sz="700" spc="-50" dirty="0">
              <a:solidFill>
                <a:srgbClr val="88888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837" y="6162902"/>
            <a:ext cx="261244" cy="263797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012761" y="6189161"/>
            <a:ext cx="639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700" spc="-50" dirty="0">
                <a:solidFill>
                  <a:srgbClr val="88888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三相</a:t>
            </a:r>
            <a:endParaRPr lang="zh-CN" altLang="en-US" sz="700" spc="-50" dirty="0">
              <a:solidFill>
                <a:srgbClr val="88888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76761" y="6189493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700" spc="-50" dirty="0">
                <a:solidFill>
                  <a:srgbClr val="888888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50Hz</a:t>
            </a:r>
            <a:endParaRPr lang="zh-CN" altLang="en-US" sz="700" spc="-50" dirty="0">
              <a:solidFill>
                <a:srgbClr val="888888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7293" y="6171603"/>
            <a:ext cx="246555" cy="2440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7305" y="6181021"/>
            <a:ext cx="239832" cy="238243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596760" y="6192371"/>
            <a:ext cx="351076" cy="2140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700" spc="-50" dirty="0">
                <a:solidFill>
                  <a:srgbClr val="88888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柴油</a:t>
            </a:r>
            <a:endParaRPr lang="zh-CN" altLang="en-US" sz="700" spc="-50" dirty="0">
              <a:solidFill>
                <a:srgbClr val="888888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5719" y="106258"/>
            <a:ext cx="1844926" cy="62523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en-US" altLang="zh-CN" sz="3000" b="1" dirty="0">
                <a:solidFill>
                  <a:schemeClr val="bg1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WP715D5</a:t>
            </a:r>
            <a:endParaRPr lang="en-US" altLang="zh-CN" sz="3000" b="1" dirty="0">
              <a:solidFill>
                <a:schemeClr val="bg1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83" y="60307"/>
            <a:ext cx="2549954" cy="904260"/>
          </a:xfrm>
          <a:prstGeom prst="rect">
            <a:avLst/>
          </a:prstGeom>
        </p:spPr>
      </p:pic>
      <p:pic>
        <p:nvPicPr>
          <p:cNvPr id="5" name="图片 4" descr="LG款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1865" y="1458595"/>
            <a:ext cx="3786505" cy="20948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94" y="1600020"/>
            <a:ext cx="2946699" cy="1892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内容占位符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837" y="1719732"/>
          <a:ext cx="3146963" cy="23889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58642"/>
                <a:gridCol w="1288321"/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基本数据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品牌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潍柴</a:t>
                      </a:r>
                      <a:endParaRPr lang="zh-CN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发动机型号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spc="-5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cs typeface="Bai Jamjuree Medium" panose="00000600000000000000" pitchFamily="2" charset="-34"/>
                          <a:sym typeface="+mn-ea"/>
                        </a:rPr>
                        <a:t>6M33D633E200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19.6 L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063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缸数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/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排列方式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6L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缸径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x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冲程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150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x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185mm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压缩比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15 : 1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发动机转速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1500rpm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工作方式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4-stroke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diesel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3" name="内容占位符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7837" y="4338700"/>
          <a:ext cx="3146964" cy="12838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06408"/>
                <a:gridCol w="740556"/>
              </a:tblGrid>
              <a:tr h="312108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排气系统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30649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spc="-2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排气温度</a:t>
                      </a:r>
                      <a:r>
                        <a:rPr lang="en-US" altLang="zh-CN" sz="800" b="0" kern="1200" spc="-20" baseline="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)</a:t>
                      </a:r>
                      <a:endParaRPr lang="en-US" altLang="en-US" sz="800" b="0" kern="1200" spc="-2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750°C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1052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排气流量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(</a:t>
                      </a: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</a:t>
                      </a:r>
                      <a:r>
                        <a:rPr lang="en-US" altLang="zh-CN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)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3518.1 kg/</a:t>
                      </a: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h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419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spc="-2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最大应许排气背压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spc="-2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7.5 kPa</a:t>
                      </a:r>
                      <a:endParaRPr lang="en-US" sz="800" b="0" kern="1200" spc="-2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4" name="内容占位符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69324" y="5992880"/>
          <a:ext cx="3152705" cy="8658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10798"/>
                <a:gridCol w="741907"/>
              </a:tblGrid>
              <a:tr h="320226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燃油系统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84609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燃油泵进油口的最大阻力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13 kPa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最大燃油流量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TBA kg/</a:t>
                      </a: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h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5" name="内容占位符 5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921845" y="1714706"/>
          <a:ext cx="3097992" cy="11408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56601"/>
                <a:gridCol w="1541391"/>
              </a:tblGrid>
              <a:tr h="35422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冷却系统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7865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散热器风扇风量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TBA m³/min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9323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机油总容量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61 L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939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冷却液总容量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150 L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0" name="内容占位符 5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921844" y="2950798"/>
          <a:ext cx="3097993" cy="117190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4182"/>
                <a:gridCol w="1473811"/>
              </a:tblGrid>
              <a:tr h="363201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电气系统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87749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启动马达额定电压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DC24V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3864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启动电池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2x60Ah(720CCA)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7088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蓄电池充电交流发电机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DC24V/55A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34" name="内容占位符 5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3921844" y="4351405"/>
          <a:ext cx="3097993" cy="14133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2408"/>
                <a:gridCol w="865585"/>
              </a:tblGrid>
              <a:tr h="337183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进气系统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90547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空滤类型</a:t>
                      </a:r>
                      <a:endParaRPr lang="en-US" alt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Dry type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6431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最大应许进气阻力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6.5 kPa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9588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进气流量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3392 kg/</a:t>
                      </a: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h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9588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最大应许进气温度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50°C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314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  <a:sym typeface="+mn-ea"/>
              </a:rPr>
              <a:t>发动机技术参数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837" y="7417671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  <a:sym typeface="+mn-ea"/>
              </a:rPr>
              <a:t>发电机技术参数</a:t>
            </a:r>
            <a:endParaRPr lang="zh-CN" altLang="en-US" sz="1600" b="1" dirty="0">
              <a:solidFill>
                <a:srgbClr val="464B52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13" name="内容占位符 5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67837" y="7876840"/>
          <a:ext cx="3245326" cy="21095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6737"/>
                <a:gridCol w="1328589"/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chemeClr val="bg1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基本数据</a:t>
                      </a:r>
                      <a:endParaRPr lang="en-US" altLang="zh-CN" sz="1000" b="1" kern="1200" dirty="0">
                        <a:solidFill>
                          <a:schemeClr val="bg1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绝缘等级 </a:t>
                      </a:r>
                      <a:r>
                        <a:rPr lang="en-US" altLang="zh-CN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&amp; </a:t>
                      </a: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温升等级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等级 </a:t>
                      </a:r>
                      <a:r>
                        <a:rPr lang="en-US" altLang="zh-CN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H/H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励磁系统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自励</a:t>
                      </a:r>
                      <a:endParaRPr lang="en-US" altLang="zh-CN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34450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引出线数量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12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绕组方式</a:t>
                      </a: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(</a:t>
                      </a: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标准</a:t>
                      </a: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)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星型绕组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节距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2/3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相数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三相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内容占位符 5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3723344" y="7876840"/>
          <a:ext cx="3277711" cy="21095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5863"/>
                <a:gridCol w="1341848"/>
              </a:tblGrid>
              <a:tr h="347010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chemeClr val="bg1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基本数据</a:t>
                      </a:r>
                      <a:endParaRPr lang="en-US" altLang="zh-CN" sz="1000" b="1" kern="1200" dirty="0">
                        <a:solidFill>
                          <a:schemeClr val="bg1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B52"/>
                    </a:solidFill>
                  </a:tcPr>
                </a:tc>
                <a:tc hMerge="1">
                  <a:tcPr marL="89372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8A8A"/>
                    </a:solidFill>
                  </a:tcPr>
                </a:tc>
              </a:tr>
              <a:tr h="262411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类型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无刷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670">
                <a:tc>
                  <a:txBody>
                    <a:bodyPr/>
                    <a:lstStyle/>
                    <a:p>
                      <a:pPr indent="0" algn="l" fontAlgn="b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轴承数量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单轴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34450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轴联方式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柔性盘联轴节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0509">
                <a:tc>
                  <a:txBody>
                    <a:bodyPr/>
                    <a:lstStyle/>
                    <a:p>
                      <a:pPr marL="0" indent="0" algn="l" defTabSz="914400" rtl="0" eaLnBrk="1" fontAlgn="b" latinLnBrk="0" hangingPunct="1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最大允许超速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2250 RPM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  <a:tr h="252732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涂层类型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真空浸漆</a:t>
                      </a:r>
                      <a:endParaRPr 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47078">
                <a:tc>
                  <a:txBody>
                    <a:bodyPr/>
                    <a:lstStyle/>
                    <a:p>
                      <a:pPr indent="0" algn="l" font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</a:t>
                      </a:r>
                      <a:r>
                        <a:rPr lang="zh-CN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防护等级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Bai Jamjuree Medium" panose="00000600000000000000" pitchFamily="2" charset="-34"/>
                          <a:ea typeface="+mn-ea"/>
                          <a:cs typeface="Bai Jamjuree Medium" panose="00000600000000000000" pitchFamily="2" charset="-34"/>
                        </a:rPr>
                        <a:t> IP23</a:t>
                      </a:r>
                      <a:endParaRPr lang="en-US" altLang="en-US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Bai Jamjuree Medium" panose="00000600000000000000" pitchFamily="2" charset="-34"/>
                        <a:ea typeface="+mn-ea"/>
                        <a:cs typeface="Bai Jamjuree Medium" panose="00000600000000000000" pitchFamily="2" charset="-34"/>
                      </a:endParaRPr>
                    </a:p>
                  </a:txBody>
                  <a:tcPr marL="81653" marR="81653" marT="42551" marB="4255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DDDC"/>
                    </a:solidFill>
                  </a:tcPr>
                </a:tc>
              </a:tr>
            </a:tbl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83" y="60307"/>
            <a:ext cx="2549954" cy="904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837" y="1458700"/>
            <a:ext cx="309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b="1" dirty="0">
                <a:solidFill>
                  <a:srgbClr val="51545D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Bai Jamjuree Medium" panose="00000600000000000000" pitchFamily="2" charset="-34"/>
              </a:rPr>
              <a:t>控制系统</a:t>
            </a:r>
            <a:endParaRPr lang="zh-CN" altLang="en-US" sz="1600" b="1" dirty="0">
              <a:solidFill>
                <a:srgbClr val="51545D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45428" y="1859945"/>
            <a:ext cx="1155603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主要特点</a:t>
            </a:r>
            <a:endParaRPr sz="8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2070" y="5233425"/>
            <a:ext cx="25196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ea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3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647837" y="2415307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单发电机组控制器可用于主要或备用方案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837" y="2970700"/>
            <a:ext cx="463297" cy="39014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269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2807837" y="2415307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手动和远程启动，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MRS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应用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750" y="2943268"/>
            <a:ext cx="545593" cy="417577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4859837" y="232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4967837" y="2415307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自动电源故障，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AMF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应用</a:t>
            </a:r>
            <a:endParaRPr lang="fr-FR" altLang="zh-CN"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37" y="2950093"/>
            <a:ext cx="542545" cy="417577"/>
          </a:xfrm>
          <a:prstGeom prst="rect">
            <a:avLst/>
          </a:prstGeom>
        </p:spPr>
      </p:pic>
      <p:sp>
        <p:nvSpPr>
          <p:cNvPr id="29" name="圆角矩形 28"/>
          <p:cNvSpPr/>
          <p:nvPr/>
        </p:nvSpPr>
        <p:spPr>
          <a:xfrm>
            <a:off x="53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9"/>
            </p:custDataLst>
          </p:nvPr>
        </p:nvSpPr>
        <p:spPr>
          <a:xfrm>
            <a:off x="647837" y="3895631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发电机组功率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频率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功率因数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电压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电流检测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69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2807837" y="3895631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发动机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交流发电机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发电机保护，紧急停机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859837" y="3781812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11"/>
            </p:custDataLst>
          </p:nvPr>
        </p:nvSpPr>
        <p:spPr>
          <a:xfrm>
            <a:off x="4967837" y="3895631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事件日志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运行时间历史记录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/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维护警告，液晶屏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41287" y="5202700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2"/>
            </p:custDataLst>
          </p:nvPr>
        </p:nvSpPr>
        <p:spPr>
          <a:xfrm>
            <a:off x="649287" y="5295307"/>
            <a:ext cx="1584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用户访问管理，容易使用的软件和工具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699837" y="5201675"/>
            <a:ext cx="1800000" cy="1152000"/>
          </a:xfrm>
          <a:prstGeom prst="roundRect">
            <a:avLst>
              <a:gd name="adj" fmla="val 7296"/>
            </a:avLst>
          </a:prstGeom>
          <a:solidFill>
            <a:srgbClr val="F0F0F0"/>
          </a:solidFill>
        </p:spPr>
        <p:txBody>
          <a:bodyPr vert="horz" wrap="square" lIns="0" tIns="0" rIns="0" bIns="0" rtlCol="0" anchor="ctr"/>
          <a:lstStyle/>
          <a:p>
            <a:pPr algn="l" rtl="0" ea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13"/>
            </p:custDataLst>
          </p:nvPr>
        </p:nvSpPr>
        <p:spPr>
          <a:xfrm>
            <a:off x="2735837" y="5295307"/>
            <a:ext cx="1692000" cy="5553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0">
              <a:lnSpc>
                <a:spcPct val="120000"/>
              </a:lnSpc>
            </a:pP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输入输出配置，</a:t>
            </a:r>
            <a:r>
              <a:rPr lang="en-US" altLang="zh-CN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USB</a:t>
            </a:r>
            <a:r>
              <a:rPr lang="zh-CN" altLang="en-US" sz="85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通讯接口</a:t>
            </a:r>
            <a:endParaRPr sz="85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31" y="4393964"/>
            <a:ext cx="551689" cy="448057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747" y="4336435"/>
            <a:ext cx="509017" cy="48463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914" y="4443683"/>
            <a:ext cx="652273" cy="393193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536" y="5734818"/>
            <a:ext cx="457201" cy="463297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957" y="5753499"/>
            <a:ext cx="423673" cy="457201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37" y="6570700"/>
            <a:ext cx="5663664" cy="3527448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20"/>
            </p:custDataLst>
          </p:nvPr>
        </p:nvSpPr>
        <p:spPr>
          <a:xfrm>
            <a:off x="1110870" y="8370700"/>
            <a:ext cx="865802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zh-CN" alt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市电</a:t>
            </a:r>
            <a:endParaRPr lang="en-US" sz="9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21"/>
            </p:custDataLst>
          </p:nvPr>
        </p:nvSpPr>
        <p:spPr>
          <a:xfrm>
            <a:off x="1719819" y="9648111"/>
            <a:ext cx="865802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zh-CN" alt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发电机组</a:t>
            </a:r>
            <a:endParaRPr lang="en-US" sz="9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22"/>
            </p:custDataLst>
          </p:nvPr>
        </p:nvSpPr>
        <p:spPr>
          <a:xfrm>
            <a:off x="3136419" y="8801690"/>
            <a:ext cx="1003418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zh-CN" alt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控制器</a:t>
            </a:r>
            <a:endParaRPr lang="en-US" sz="9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3"/>
            </p:custDataLst>
          </p:nvPr>
        </p:nvSpPr>
        <p:spPr>
          <a:xfrm>
            <a:off x="5435051" y="9192050"/>
            <a:ext cx="1252873" cy="4854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远程控制</a:t>
            </a:r>
            <a:endParaRPr lang="en-US" altLang="zh-CN" sz="9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  <a:p>
            <a:pPr eaLnBrk="0">
              <a:lnSpc>
                <a:spcPct val="120000"/>
              </a:lnSpc>
            </a:pPr>
            <a:r>
              <a:rPr lang="zh-CN" alt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和云服务</a:t>
            </a:r>
            <a:endParaRPr lang="en-US" sz="9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4"/>
            </p:custDataLst>
          </p:nvPr>
        </p:nvSpPr>
        <p:spPr>
          <a:xfrm>
            <a:off x="5499141" y="8244619"/>
            <a:ext cx="1003418" cy="24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zh-CN" altLang="en-US" sz="900" kern="7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Bai Jamjuree Medium" panose="00000600000000000000" pitchFamily="2" charset="-34"/>
                <a:sym typeface="+mn-ea"/>
              </a:rPr>
              <a:t>负载</a:t>
            </a:r>
            <a:endParaRPr lang="en-US" sz="900" kern="7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Bai Jamjuree Medium" panose="00000600000000000000" pitchFamily="2" charset="-34"/>
              <a:sym typeface="+mn-ea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83" y="60307"/>
            <a:ext cx="2549954" cy="904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内容占位符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837" y="1863732"/>
          <a:ext cx="3168000" cy="2402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68000"/>
              </a:tblGrid>
              <a:tr h="354398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标准配置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</a:tr>
              <a:tr h="2048570">
                <a:tc>
                  <a:txBody>
                    <a:bodyPr/>
                    <a:lstStyle/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柴油发动机，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50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度散热器，无刷交流发电机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智能控制器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输出断路器（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≤1250A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）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免维护启动电池、电池充电器、电池接线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钢制工业消声器、排气波纹管、弯头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采用钢制底盘和防震减震器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升降式移动结构，机油和冷却液的排放引出接口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运动件保护、发热件保护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专用工具箱，发货随附文档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837" y="1458700"/>
            <a:ext cx="2736000" cy="41788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eaLnBrk="0">
              <a:lnSpc>
                <a:spcPct val="120000"/>
              </a:lnSpc>
            </a:pPr>
            <a:r>
              <a:rPr lang="zh-CN" altLang="en-US" sz="1600" b="1" dirty="0">
                <a:solidFill>
                  <a:srgbClr val="464B52"/>
                </a:solidFill>
                <a:latin typeface="Bai Jamjuree Medium" panose="00000600000000000000" pitchFamily="2" charset="-34"/>
                <a:ea typeface="黑体" panose="02010609060101010101" charset="-122"/>
                <a:cs typeface="Bai Jamjuree Medium" panose="00000600000000000000" pitchFamily="2" charset="-34"/>
                <a:sym typeface="+mn-ea"/>
              </a:rPr>
              <a:t>发电机组配置</a:t>
            </a:r>
            <a:endParaRPr lang="zh-CN" altLang="en-US" sz="1600" b="1" dirty="0">
              <a:solidFill>
                <a:srgbClr val="464B52"/>
              </a:solidFill>
              <a:latin typeface="Bai Jamjuree Medium" panose="00000600000000000000" pitchFamily="2" charset="-34"/>
              <a:ea typeface="黑体" panose="02010609060101010101" charset="-122"/>
              <a:cs typeface="Bai Jamjuree Medium" panose="00000600000000000000" pitchFamily="2" charset="-34"/>
              <a:sym typeface="+mn-ea"/>
            </a:endParaRPr>
          </a:p>
        </p:txBody>
      </p:sp>
      <p:graphicFrame>
        <p:nvGraphicFramePr>
          <p:cNvPr id="5" name="内容占位符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851837" y="1867222"/>
          <a:ext cx="3096000" cy="585547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56864"/>
                <a:gridCol w="2039136"/>
              </a:tblGrid>
              <a:tr h="343779">
                <a:tc gridSpan="2"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24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1" kern="1200" dirty="0">
                          <a:solidFill>
                            <a:srgbClr val="464B52"/>
                          </a:solidFill>
                          <a:effectLst/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可选配置</a:t>
                      </a:r>
                      <a:endParaRPr lang="en-US" altLang="zh-CN" sz="1000" b="1" kern="1200" dirty="0">
                        <a:solidFill>
                          <a:srgbClr val="464B52"/>
                        </a:solidFill>
                        <a:effectLst/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9372" marT="44686" marB="4468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DDD"/>
                    </a:solidFill>
                  </a:tcPr>
                </a:tc>
                <a:tc hMerge="1">
                  <a:tcPr/>
                </a:tc>
              </a:tr>
              <a:tr h="1335699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1" kern="1200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发动机</a:t>
                      </a:r>
                      <a:endParaRPr lang="en-US" sz="800" b="1" kern="1200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水套加热器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燃油加热器、油位分离器、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手动抽机油泵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重载空滤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住宅消声器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远程水箱、板交热交换器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1" kern="1200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交流发电机</a:t>
                      </a:r>
                      <a:endParaRPr lang="en-US" sz="800" b="1" kern="1200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永磁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/AREP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励磁系统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防冷凝加热器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绕组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/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轴承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RTD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双轴承结构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防护等级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IP44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84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1" kern="1200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控制系统</a:t>
                      </a:r>
                      <a:endParaRPr lang="en-US" sz="800" b="1" kern="1200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同步面板、远程控制面板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RS232/485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、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4G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及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GPS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无线、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    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以太网通信卡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附加数字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/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模拟输入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/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输出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监控软件，手机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APP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镍镉电池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440000">
                <a:tc>
                  <a:txBody>
                    <a:bodyPr/>
                    <a:lstStyle/>
                    <a:p>
                      <a:pPr indent="0" algn="l" fontAlgn="b">
                        <a:lnSpc>
                          <a:spcPts val="12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1" kern="1200" dirty="0">
                          <a:solidFill>
                            <a:srgbClr val="464B52"/>
                          </a:solidFill>
                          <a:latin typeface="思源黑体 CN Heavy" panose="020B0A00000000000000" pitchFamily="34" charset="-122"/>
                          <a:ea typeface="思源黑体 CN Heavy" panose="020B0A00000000000000" pitchFamily="34" charset="-122"/>
                          <a:cs typeface="Bai Jamjuree Medium" panose="00000600000000000000" pitchFamily="2" charset="-34"/>
                        </a:rPr>
                        <a:t>发电机组</a:t>
                      </a:r>
                      <a:endParaRPr lang="en-US" sz="800" b="1" kern="1200" dirty="0">
                        <a:solidFill>
                          <a:srgbClr val="464B52"/>
                        </a:solidFill>
                        <a:latin typeface="思源黑体 CN Heavy" panose="020B0A00000000000000" pitchFamily="34" charset="-122"/>
                        <a:ea typeface="思源黑体 CN Heavy" panose="020B0A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外置油箱，自动加注燃油或机油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ATS /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输出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/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并机</a:t>
                      </a:r>
                      <a:r>
                        <a:rPr lang="en-US" altLang="zh-CN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/</a:t>
                      </a: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配电柜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负载测试柜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移动拖车</a:t>
                      </a:r>
                      <a:endParaRPr lang="en-US" altLang="zh-CN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  <a:p>
                      <a:pPr indent="0" algn="l" fontAlgn="b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800" b="0" kern="1200" dirty="0">
                          <a:solidFill>
                            <a:srgbClr val="464B52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  <a:cs typeface="Bai Jamjuree Medium" panose="00000600000000000000" pitchFamily="2" charset="-34"/>
                        </a:rPr>
                        <a:t>◆  定制设计</a:t>
                      </a:r>
                      <a:endParaRPr lang="en-US" sz="800" b="0" kern="1200" dirty="0">
                        <a:solidFill>
                          <a:srgbClr val="464B52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Bai Jamjuree Medium" panose="00000600000000000000" pitchFamily="2" charset="-34"/>
                      </a:endParaRPr>
                    </a:p>
                  </a:txBody>
                  <a:tcPr marL="180000" marR="81653" marT="42551" marB="425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99" y="4482700"/>
            <a:ext cx="2923038" cy="4389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883" y="60307"/>
            <a:ext cx="2549954" cy="9042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9837" y="10170700"/>
            <a:ext cx="5644706" cy="216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eaLnBrk="0">
              <a:lnSpc>
                <a:spcPct val="120000"/>
              </a:lnSpc>
            </a:pPr>
            <a:r>
              <a:rPr lang="en-US" altLang="zh-CN" sz="900" dirty="0">
                <a:solidFill>
                  <a:srgbClr val="51545D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Arial" panose="020B0604020202020204" pitchFamily="34" charset="0"/>
                <a:sym typeface="+mn-ea"/>
              </a:rPr>
              <a:t>Tel: +86 591 8639 6829     Fax: +86 591 8639 6929     Email: info@aggpower.com     Web: www.aggpower.cn</a:t>
            </a:r>
            <a:endParaRPr lang="zh-CN" altLang="en-US" sz="900" dirty="0">
              <a:solidFill>
                <a:srgbClr val="51545D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8620d934-fe08-4b38-beba-1d81150864c0}"/>
  <p:tag name="KSO_WM_BEAUTIFY_FLAG" val=""/>
  <p:tag name="TABLE_ENDDRAG_ORIGIN_RECT" val="533*170"/>
  <p:tag name="TABLE_ENDDRAG_RECT" val="29*305*533*170"/>
</p:tagLst>
</file>

<file path=ppt/tags/tag2.xml><?xml version="1.0" encoding="utf-8"?>
<p:tagLst xmlns:p="http://schemas.openxmlformats.org/presentationml/2006/main">
  <p:tag name="KSO_WM_UNIT_TABLE_BEAUTIFY" val="smartTable{f7a581d7-eb65-4560-b5b8-dc6185ebc975}"/>
  <p:tag name="KSO_WM_BEAUTIFY_FLAG" val=""/>
  <p:tag name="TABLE_ENDDRAG_ORIGIN_RECT" val="266*307"/>
  <p:tag name="TABLE_ENDDRAG_RECT" val="304*293*266*30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TABLE_BEAUTIFY" val="smartTable{9ab013af-fdaf-4d36-91a5-f817753aad0f}"/>
  <p:tag name="TABLE_ENDDRAG_ORIGIN_RECT" val="349*150"/>
  <p:tag name="TABLE_ENDDRAG_RECT" val="29*543*349*150"/>
  <p:tag name="KSO_WM_BEAUTIFY_FLAG" val=""/>
</p:tagLst>
</file>

<file path=ppt/tags/tag6.xml><?xml version="1.0" encoding="utf-8"?>
<p:tagLst xmlns:p="http://schemas.openxmlformats.org/presentationml/2006/main">
  <p:tag name="KSO_WM_UNIT_TABLE_BEAUTIFY" val="smartTable{4b2721a1-26dc-43bc-8d13-e521f0bebbbc}"/>
  <p:tag name="TABLE_ENDDRAG_ORIGIN_RECT" val="349*150"/>
  <p:tag name="TABLE_ENDDRAG_RECT" val="29*543*349*150"/>
  <p:tag name="KSO_WM_BEAUTIFY_FLAG" val=""/>
</p:tagLst>
</file>

<file path=ppt/tags/tag7.xml><?xml version="1.0" encoding="utf-8"?>
<p:tagLst xmlns:p="http://schemas.openxmlformats.org/presentationml/2006/main">
  <p:tag name="KSO_WM_UNIT_TABLE_BEAUTIFY" val="smartTable{ec3c4a9c-89da-4361-9b52-87d4df783dd7}"/>
  <p:tag name="TABLE_ENDDRAG_ORIGIN_RECT" val="349*150"/>
  <p:tag name="TABLE_ENDDRAG_RECT" val="29*543*349*150"/>
  <p:tag name="KSO_WM_BEAUTIFY_FLAG" val=""/>
</p:tagLst>
</file>

<file path=ppt/tags/tag8.xml><?xml version="1.0" encoding="utf-8"?>
<p:tagLst xmlns:p="http://schemas.openxmlformats.org/presentationml/2006/main">
  <p:tag name="KSO_WM_UNIT_TABLE_BEAUTIFY" val="smartTable{e1be7357-0c08-4b58-9889-9cd1d23b79de}"/>
  <p:tag name="TABLE_ENDDRAG_ORIGIN_RECT" val="349*150"/>
  <p:tag name="TABLE_ENDDRAG_RECT" val="29*543*349*150"/>
  <p:tag name="KSO_WM_BEAUTIFY_FLAG" val=""/>
</p:tagLst>
</file>

<file path=ppt/tags/tag9.xml><?xml version="1.0" encoding="utf-8"?>
<p:tagLst xmlns:p="http://schemas.openxmlformats.org/presentationml/2006/main">
  <p:tag name="KSO_WM_UNIT_TABLE_BEAUTIFY" val="smartTable{c9616f9b-395a-4c6a-a2f6-dc0e21245748}"/>
  <p:tag name="TABLE_ENDDRAG_ORIGIN_RECT" val="349*150"/>
  <p:tag name="TABLE_ENDDRAG_RECT" val="29*543*349*150"/>
  <p:tag name="KSO_WM_BEAUTIFY_FLAG" val=""/>
</p:tagLst>
</file>

<file path=ppt/tags/tag10.xml><?xml version="1.0" encoding="utf-8"?>
<p:tagLst xmlns:p="http://schemas.openxmlformats.org/presentationml/2006/main">
  <p:tag name="KSO_WM_UNIT_TABLE_BEAUTIFY" val="smartTable{ea157cb2-9cec-4dc6-9cfb-f1fb4d7a46f1}"/>
  <p:tag name="TABLE_ENDDRAG_ORIGIN_RECT" val="349*150"/>
  <p:tag name="TABLE_ENDDRAG_RECT" val="29*543*349*150"/>
  <p:tag name="KSO_WM_BEAUTIFY_FLAG" val=""/>
</p:tagLst>
</file>

<file path=ppt/tags/tag11.xml><?xml version="1.0" encoding="utf-8"?>
<p:tagLst xmlns:p="http://schemas.openxmlformats.org/presentationml/2006/main">
  <p:tag name="KSO_WM_UNIT_TABLE_BEAUTIFY" val="smartTable{8754ab95-8ce8-4d3d-9943-ca3e226f984e}"/>
  <p:tag name="TABLE_ENDDRAG_ORIGIN_RECT" val="349*150"/>
  <p:tag name="TABLE_ENDDRAG_RECT" val="29*543*349*150"/>
  <p:tag name="KSO_WM_BEAUTIFY_FLAG" val=""/>
</p:tagLst>
</file>

<file path=ppt/tags/tag12.xml><?xml version="1.0" encoding="utf-8"?>
<p:tagLst xmlns:p="http://schemas.openxmlformats.org/presentationml/2006/main">
  <p:tag name="KSO_WM_UNIT_TABLE_BEAUTIFY" val="smartTable{b75002c6-012e-4008-80c5-4185d30e1b7b}"/>
  <p:tag name="TABLE_ENDDRAG_ORIGIN_RECT" val="349*150"/>
  <p:tag name="TABLE_ENDDRAG_RECT" val="29*543*349*150"/>
  <p:tag name="KSO_WM_BEAUTIFY_FLAG" val=""/>
</p:tagLst>
</file>

<file path=ppt/tags/tag13.xml><?xml version="1.0" encoding="utf-8"?>
<p:tagLst xmlns:p="http://schemas.openxmlformats.org/presentationml/2006/main">
  <p:tag name="KSO_WM_UNIT_TABLE_BEAUTIFY" val="smartTable{6ffe85b7-8271-4226-8117-0f82a1d41c73}"/>
  <p:tag name="TABLE_ENDDRAG_ORIGIN_RECT" val="349*150"/>
  <p:tag name="TABLE_ENDDRAG_RECT" val="29*543*349*150"/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ags/tag29.xml><?xml version="1.0" encoding="utf-8"?>
<p:tagLst xmlns:p="http://schemas.openxmlformats.org/presentationml/2006/main">
  <p:tag name="KSO_WM_UNIT_TABLE_BEAUTIFY" val="smartTable{af2132d9-7b93-45ab-b0f7-6984477cb37b}"/>
  <p:tag name="TABLE_ENDDRAG_ORIGIN_RECT" val="349*150"/>
  <p:tag name="TABLE_ENDDRAG_RECT" val="29*543*349*150"/>
  <p:tag name="KSO_WM_BEAUTIFY_FLAG" val=""/>
</p:tagLst>
</file>

<file path=ppt/tags/tag30.xml><?xml version="1.0" encoding="utf-8"?>
<p:tagLst xmlns:p="http://schemas.openxmlformats.org/presentationml/2006/main">
  <p:tag name="KSO_WPP_MARK_KEY" val="f0e48a33-d7b1-4d2c-84ff-7b32dd322aea"/>
  <p:tag name="COMMONDATA" val="eyJoZGlkIjoiNTc1ZThmMjcyMTc4NDg0YjIyMzQ3YThlOTllYzBhYz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vert="horz" wrap="square" lIns="0" tIns="0" rIns="0" bIns="0"/>
      <a:lstStyle>
        <a:defPPr algn="l" rtl="0" eaLnBrk="0">
          <a:lnSpc>
            <a:spcPct val="11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</a:defRPr>
        </a:defPPr>
      </a:lstStyle>
    </a:spDef>
    <a:txDef>
      <a:spPr>
        <a:noFill/>
      </a:spPr>
      <a:bodyPr wrap="square" rtlCol="0">
        <a:noAutofit/>
      </a:bodyPr>
      <a:lstStyle>
        <a:defPPr algn="l" rtl="0" eaLnBrk="0">
          <a:lnSpc>
            <a:spcPct val="120000"/>
          </a:lnSpc>
          <a:spcBef>
            <a:spcPts val="0"/>
          </a:spcBef>
          <a:spcAft>
            <a:spcPts val="0"/>
          </a:spcAft>
          <a:defRPr lang="en-US" altLang="en-US" sz="10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ea typeface="黑体" panose="02010609060101010101" charset="-122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2138</Words>
  <Application>WPS 演示</Application>
  <PresentationFormat>自定义</PresentationFormat>
  <Paragraphs>418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黑体</vt:lpstr>
      <vt:lpstr>思源黑体 CN Heavy</vt:lpstr>
      <vt:lpstr>Bai Jamjuree SemiBold</vt:lpstr>
      <vt:lpstr>思源黑体 CN Medium</vt:lpstr>
      <vt:lpstr>Bai Jamjuree Medium</vt:lpstr>
      <vt:lpstr>思源黑体 CN Normal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sijxs</cp:lastModifiedBy>
  <cp:revision>365</cp:revision>
  <dcterms:created xsi:type="dcterms:W3CDTF">2023-06-05T06:07:00Z</dcterms:created>
  <dcterms:modified xsi:type="dcterms:W3CDTF">2026-10-15T05:10:47Z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2023-06-17T05:58:16Z</vt:filetime>
  </property>
  <property fmtid="{D5CDD505-2E9C-101B-9397-08002B2CF9AE}" pid="4" name="ICV">
    <vt:lpwstr>83A9200C92AB44AEA78A85364E4677A1_13</vt:lpwstr>
  </property>
  <property fmtid="{D5CDD505-2E9C-101B-9397-08002B2CF9AE}" pid="5" name="KSOProductBuildVer">
    <vt:lpwstr>2052-12.1.0.28505</vt:lpwstr>
  </property>
</Properties>
</file>